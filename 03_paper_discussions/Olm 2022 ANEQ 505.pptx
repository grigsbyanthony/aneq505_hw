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JetBrains Mono ExtraBold"/>
      <p:bold r:id="rId21"/>
      <p:boldItalic r:id="rId22"/>
    </p:embeddedFont>
    <p:embeddedFont>
      <p:font typeface="JetBrains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JetBrainsMonoExtraBold-boldItalic.fntdata"/><Relationship Id="rId21" Type="http://schemas.openxmlformats.org/officeDocument/2006/relationships/font" Target="fonts/JetBrainsMonoExtraBold-bold.fntdata"/><Relationship Id="rId24" Type="http://schemas.openxmlformats.org/officeDocument/2006/relationships/font" Target="fonts/JetBrainsMono-bold.fntdata"/><Relationship Id="rId23" Type="http://schemas.openxmlformats.org/officeDocument/2006/relationships/font" Target="fonts/JetBrains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JetBrainsMono-boldItalic.fntdata"/><Relationship Id="rId25" Type="http://schemas.openxmlformats.org/officeDocument/2006/relationships/font" Target="fonts/JetBrains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Olm was a postdoc at </a:t>
            </a:r>
            <a:r>
              <a:rPr lang="en"/>
              <a:t>Stanford</a:t>
            </a:r>
            <a:r>
              <a:rPr lang="en"/>
              <a:t> is now a professor at CU Boulder (h-index of 28)</a:t>
            </a:r>
            <a:endParaRPr/>
          </a:p>
          <a:p>
            <a:pPr indent="-298450" lvl="0" marL="457200" rtl="0" algn="l">
              <a:spcBef>
                <a:spcPts val="0"/>
              </a:spcBef>
              <a:spcAft>
                <a:spcPts val="0"/>
              </a:spcAft>
              <a:buSzPts val="1100"/>
              <a:buChar char="-"/>
            </a:pPr>
            <a:r>
              <a:rPr lang="en"/>
              <a:t>Senior Author, Justin </a:t>
            </a:r>
            <a:r>
              <a:rPr lang="en"/>
              <a:t>Sonnenburg</a:t>
            </a:r>
            <a:r>
              <a:rPr lang="en"/>
              <a:t>, is a professor at </a:t>
            </a:r>
            <a:r>
              <a:rPr lang="en"/>
              <a:t>Stanford</a:t>
            </a:r>
            <a:r>
              <a:rPr lang="en"/>
              <a:t> (H-index of 82) </a:t>
            </a:r>
            <a:endParaRPr/>
          </a:p>
          <a:p>
            <a:pPr indent="-298450" lvl="0" marL="457200" rtl="0" algn="l">
              <a:spcBef>
                <a:spcPts val="0"/>
              </a:spcBef>
              <a:spcAft>
                <a:spcPts val="0"/>
              </a:spcAft>
              <a:buSzPts val="1100"/>
              <a:buChar char="-"/>
            </a:pPr>
            <a:r>
              <a:rPr lang="en"/>
              <a:t>Science </a:t>
            </a:r>
            <a:r>
              <a:rPr lang="en"/>
              <a:t>impact</a:t>
            </a:r>
            <a:r>
              <a:rPr lang="en"/>
              <a:t> factor is 47.73</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6c7bcceb5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6c7bcceb5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6c7bcceb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c6c7bcceb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6c7bcceb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6c7bcceb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6c7bcceb5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6c7bcceb5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6c7bcceb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6c7bcceb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6c7bcceb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6c7bcceb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db3974c4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db3974c4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6c7bcceb5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6c7bcceb5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6c7bcceb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c6c7bcceb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6c7bcceb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c6c7bcceb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6c7bcceb5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6c7bcceb5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c6c7bcceb5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c6c7bcceb5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6c7bcceb5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c6c7bcceb5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c6c7bcceb5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c6c7bcceb5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Screenshot 2026-02-09 at 2.03.19 PM.png"/>
          <p:cNvPicPr preferRelativeResize="0"/>
          <p:nvPr/>
        </p:nvPicPr>
        <p:blipFill rotWithShape="1">
          <a:blip r:embed="rId3">
            <a:alphaModFix/>
          </a:blip>
          <a:srcRect b="19321" l="0" r="0" t="8611"/>
          <a:stretch/>
        </p:blipFill>
        <p:spPr>
          <a:xfrm>
            <a:off x="0" y="994538"/>
            <a:ext cx="9144001" cy="2506925"/>
          </a:xfrm>
          <a:prstGeom prst="rect">
            <a:avLst/>
          </a:prstGeom>
          <a:noFill/>
          <a:ln>
            <a:noFill/>
          </a:ln>
        </p:spPr>
      </p:pic>
      <p:sp>
        <p:nvSpPr>
          <p:cNvPr id="55" name="Google Shape;55;p13"/>
          <p:cNvSpPr/>
          <p:nvPr/>
        </p:nvSpPr>
        <p:spPr>
          <a:xfrm>
            <a:off x="2249013" y="3932494"/>
            <a:ext cx="5807100" cy="415200"/>
          </a:xfrm>
          <a:prstGeom prst="rect">
            <a:avLst/>
          </a:prstGeom>
          <a:solidFill>
            <a:srgbClr val="0097A7">
              <a:alpha val="145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p:nvPr/>
        </p:nvSpPr>
        <p:spPr>
          <a:xfrm rot="5400000">
            <a:off x="1459113" y="3558542"/>
            <a:ext cx="415200" cy="1164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1084475" y="3878494"/>
            <a:ext cx="1164600" cy="50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Led by</a:t>
            </a:r>
            <a:endParaRPr sz="2100">
              <a:solidFill>
                <a:schemeClr val="lt1"/>
              </a:solidFill>
              <a:latin typeface="JetBrains Mono ExtraBold"/>
              <a:ea typeface="JetBrains Mono ExtraBold"/>
              <a:cs typeface="JetBrains Mono ExtraBold"/>
              <a:sym typeface="JetBrains Mono ExtraBold"/>
            </a:endParaRPr>
          </a:p>
        </p:txBody>
      </p:sp>
      <p:sp>
        <p:nvSpPr>
          <p:cNvPr id="58" name="Google Shape;58;p13"/>
          <p:cNvSpPr txBox="1"/>
          <p:nvPr/>
        </p:nvSpPr>
        <p:spPr>
          <a:xfrm>
            <a:off x="2252487" y="3886894"/>
            <a:ext cx="5807100" cy="50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rgbClr val="434343"/>
                </a:solidFill>
                <a:latin typeface="JetBrains Mono"/>
                <a:ea typeface="JetBrains Mono"/>
                <a:cs typeface="JetBrains Mono"/>
                <a:sym typeface="JetBrains Mono"/>
              </a:rPr>
              <a:t>Anthony Grigsby and Chance Roberts</a:t>
            </a:r>
            <a:endParaRPr sz="2100">
              <a:solidFill>
                <a:srgbClr val="434343"/>
              </a:solidFill>
              <a:latin typeface="JetBrains Mono"/>
              <a:ea typeface="JetBrains Mono"/>
              <a:cs typeface="JetBrains Mono"/>
              <a:sym typeface="JetBrains Mono"/>
            </a:endParaRPr>
          </a:p>
        </p:txBody>
      </p:sp>
      <p:sp>
        <p:nvSpPr>
          <p:cNvPr id="59" name="Google Shape;59;p13"/>
          <p:cNvSpPr/>
          <p:nvPr/>
        </p:nvSpPr>
        <p:spPr>
          <a:xfrm>
            <a:off x="4410375" y="4493450"/>
            <a:ext cx="1796100" cy="415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3"/>
          <p:cNvSpPr/>
          <p:nvPr/>
        </p:nvSpPr>
        <p:spPr>
          <a:xfrm rot="5400000">
            <a:off x="3445872" y="3944898"/>
            <a:ext cx="415200" cy="1513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3"/>
          <p:cNvSpPr txBox="1"/>
          <p:nvPr/>
        </p:nvSpPr>
        <p:spPr>
          <a:xfrm>
            <a:off x="2896940" y="4439450"/>
            <a:ext cx="1513800" cy="50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MIP 505</a:t>
            </a:r>
            <a:endParaRPr sz="2100">
              <a:solidFill>
                <a:schemeClr val="lt1"/>
              </a:solidFill>
              <a:latin typeface="JetBrains Mono ExtraBold"/>
              <a:ea typeface="JetBrains Mono ExtraBold"/>
              <a:cs typeface="JetBrains Mono ExtraBold"/>
              <a:sym typeface="JetBrains Mono ExtraBold"/>
            </a:endParaRPr>
          </a:p>
        </p:txBody>
      </p:sp>
      <p:sp>
        <p:nvSpPr>
          <p:cNvPr id="62" name="Google Shape;62;p13"/>
          <p:cNvSpPr txBox="1"/>
          <p:nvPr/>
        </p:nvSpPr>
        <p:spPr>
          <a:xfrm>
            <a:off x="4411436" y="4447850"/>
            <a:ext cx="1795200" cy="50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rgbClr val="434343"/>
                </a:solidFill>
                <a:latin typeface="JetBrains Mono"/>
                <a:ea typeface="JetBrains Mono"/>
                <a:cs typeface="JetBrains Mono"/>
                <a:sym typeface="JetBrains Mono"/>
              </a:rPr>
              <a:t>2026-02-11</a:t>
            </a:r>
            <a:endParaRPr sz="2100">
              <a:solidFill>
                <a:srgbClr val="434343"/>
              </a:solidFill>
              <a:latin typeface="JetBrains Mono"/>
              <a:ea typeface="JetBrains Mono"/>
              <a:cs typeface="JetBrains Mono"/>
              <a:sym typeface="JetBrains Mono"/>
            </a:endParaRPr>
          </a:p>
        </p:txBody>
      </p:sp>
      <p:pic>
        <p:nvPicPr>
          <p:cNvPr id="63" name="Google Shape;63;p13" title="science-logo.png"/>
          <p:cNvPicPr preferRelativeResize="0"/>
          <p:nvPr/>
        </p:nvPicPr>
        <p:blipFill>
          <a:blip r:embed="rId4">
            <a:alphaModFix/>
          </a:blip>
          <a:stretch>
            <a:fillRect/>
          </a:stretch>
        </p:blipFill>
        <p:spPr>
          <a:xfrm>
            <a:off x="3257550" y="-87275"/>
            <a:ext cx="2628900" cy="1219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idx="1" type="body"/>
          </p:nvPr>
        </p:nvSpPr>
        <p:spPr>
          <a:xfrm>
            <a:off x="311700" y="-1051750"/>
            <a:ext cx="8520600" cy="23718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852"/>
              <a:buNone/>
            </a:pPr>
            <a:r>
              <a:rPr lang="en" sz="1195">
                <a:solidFill>
                  <a:srgbClr val="B7B7B7"/>
                </a:solidFill>
                <a:latin typeface="JetBrains Mono"/>
                <a:ea typeface="JetBrains Mono"/>
                <a:cs typeface="JetBrains Mono"/>
                <a:sym typeface="JetBrains Mono"/>
              </a:rPr>
              <a:t>Infant microbiome assembly has been intensely studied in infants from industrialized nations, but little is known about this process in nonindustrialized populations. We deeply sequenced infant stool samples from the Hadza hunter-gatherers of Tanzania and analyzed them in a global meta-analysis. Infant microbiomes develop along lifestyle-associated trajectories, with more than 20% of genomes detected in the Hadza infant gut representing novel species. Industrialized infants-even those who are breastfed-have microbiomes characterized by a paucity of Bifidobacterium infantis and gene cassettes involved in human milk utilization. Strains within lifestyle-associated taxonomic groups are shared between mother-infant dyads, consistent with early life inheritance of lifestyle-shaped microbiomes. The population-specific differences in infant microbiome composition and function underscore the importance of studying microbiomes from people outside of wealthy, industrialized nations.</a:t>
            </a:r>
            <a:endParaRPr sz="1195">
              <a:solidFill>
                <a:srgbClr val="B7B7B7"/>
              </a:solidFill>
              <a:latin typeface="JetBrains Mono"/>
              <a:ea typeface="JetBrains Mono"/>
              <a:cs typeface="JetBrains Mono"/>
              <a:sym typeface="JetBrains Mono"/>
            </a:endParaRPr>
          </a:p>
        </p:txBody>
      </p:sp>
      <p:sp>
        <p:nvSpPr>
          <p:cNvPr id="69" name="Google Shape;69;p14"/>
          <p:cNvSpPr txBox="1"/>
          <p:nvPr/>
        </p:nvSpPr>
        <p:spPr>
          <a:xfrm rot="5400000">
            <a:off x="4223700" y="1138400"/>
            <a:ext cx="6966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chemeClr val="dk2"/>
                </a:solidFill>
                <a:latin typeface="JetBrains Mono"/>
                <a:ea typeface="JetBrains Mono"/>
                <a:cs typeface="JetBrains Mono"/>
                <a:sym typeface="JetBrains Mono"/>
              </a:rPr>
              <a:t>-&gt;</a:t>
            </a:r>
            <a:endParaRPr b="1" sz="3100">
              <a:solidFill>
                <a:schemeClr val="dk2"/>
              </a:solidFill>
              <a:latin typeface="JetBrains Mono"/>
              <a:ea typeface="JetBrains Mono"/>
              <a:cs typeface="JetBrains Mono"/>
              <a:sym typeface="JetBrains Mono"/>
            </a:endParaRPr>
          </a:p>
        </p:txBody>
      </p:sp>
      <p:sp>
        <p:nvSpPr>
          <p:cNvPr id="70" name="Google Shape;70;p14"/>
          <p:cNvSpPr txBox="1"/>
          <p:nvPr/>
        </p:nvSpPr>
        <p:spPr>
          <a:xfrm>
            <a:off x="311700" y="1817600"/>
            <a:ext cx="8520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Olm et al. performed deep metagenomic sequencing on infant stool samples from the Hadza hunter-gatherers of Tanzania and combined them with a global meta-analysis of 1,900 samples across 18 populations, revealing that infant microbiomes develop along lifestyle-associated trajectories that diverge within the first six months of life.</a:t>
            </a:r>
            <a:endParaRPr sz="1800">
              <a:solidFill>
                <a:schemeClr val="dk2"/>
              </a:solidFill>
              <a:latin typeface="JetBrains Mono"/>
              <a:ea typeface="JetBrains Mono"/>
              <a:cs typeface="JetBrains Mono"/>
              <a:sym typeface="JetBrains Mono"/>
            </a:endParaRPr>
          </a:p>
        </p:txBody>
      </p:sp>
      <p:sp>
        <p:nvSpPr>
          <p:cNvPr id="71" name="Google Shape;71;p14"/>
          <p:cNvSpPr/>
          <p:nvPr/>
        </p:nvSpPr>
        <p:spPr>
          <a:xfrm rot="5400000">
            <a:off x="4401525" y="397350"/>
            <a:ext cx="351600" cy="915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txBox="1"/>
          <p:nvPr/>
        </p:nvSpPr>
        <p:spPr>
          <a:xfrm>
            <a:off x="3878650" y="4759350"/>
            <a:ext cx="526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JetBrains Mono"/>
                <a:ea typeface="JetBrains Mono"/>
                <a:cs typeface="JetBrains Mono"/>
                <a:sym typeface="JetBrains Mono"/>
              </a:rPr>
              <a:t>Olm et al., Science 376, 1220-1223 (2022)</a:t>
            </a:r>
            <a:endParaRPr sz="1600">
              <a:solidFill>
                <a:schemeClr val="lt2"/>
              </a:solidFill>
              <a:latin typeface="JetBrains Mono"/>
              <a:ea typeface="JetBrains Mono"/>
              <a:cs typeface="JetBrains Mono"/>
              <a:sym typeface="JetBrains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a:off x="644350" y="305400"/>
            <a:ext cx="3606600" cy="42279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5"/>
          <p:cNvSpPr/>
          <p:nvPr/>
        </p:nvSpPr>
        <p:spPr>
          <a:xfrm>
            <a:off x="5046950" y="305400"/>
            <a:ext cx="3606600" cy="42279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5"/>
          <p:cNvSpPr/>
          <p:nvPr/>
        </p:nvSpPr>
        <p:spPr>
          <a:xfrm>
            <a:off x="490450" y="305400"/>
            <a:ext cx="153900" cy="4227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5"/>
          <p:cNvSpPr/>
          <p:nvPr/>
        </p:nvSpPr>
        <p:spPr>
          <a:xfrm>
            <a:off x="4893050" y="305400"/>
            <a:ext cx="153900" cy="422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5"/>
          <p:cNvSpPr txBox="1"/>
          <p:nvPr/>
        </p:nvSpPr>
        <p:spPr>
          <a:xfrm>
            <a:off x="755350" y="391375"/>
            <a:ext cx="33846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accent5"/>
                </a:solidFill>
                <a:latin typeface="JetBrains Mono ExtraBold"/>
                <a:ea typeface="JetBrains Mono ExtraBold"/>
                <a:cs typeface="JetBrains Mono ExtraBold"/>
                <a:sym typeface="JetBrains Mono ExtraBold"/>
              </a:rPr>
              <a:t>Authors</a:t>
            </a:r>
            <a:endParaRPr sz="2300">
              <a:solidFill>
                <a:schemeClr val="accent5"/>
              </a:solidFill>
              <a:latin typeface="JetBrains Mono ExtraBold"/>
              <a:ea typeface="JetBrains Mono ExtraBold"/>
              <a:cs typeface="JetBrains Mono ExtraBold"/>
              <a:sym typeface="JetBrains Mono ExtraBold"/>
            </a:endParaRPr>
          </a:p>
        </p:txBody>
      </p:sp>
      <p:sp>
        <p:nvSpPr>
          <p:cNvPr id="82" name="Google Shape;82;p15"/>
          <p:cNvSpPr txBox="1"/>
          <p:nvPr/>
        </p:nvSpPr>
        <p:spPr>
          <a:xfrm>
            <a:off x="5157950" y="391375"/>
            <a:ext cx="33846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accent4"/>
                </a:solidFill>
                <a:latin typeface="JetBrains Mono ExtraBold"/>
                <a:ea typeface="JetBrains Mono ExtraBold"/>
                <a:cs typeface="JetBrains Mono ExtraBold"/>
                <a:sym typeface="JetBrains Mono ExtraBold"/>
              </a:rPr>
              <a:t>Paper Details</a:t>
            </a:r>
            <a:endParaRPr sz="2300">
              <a:solidFill>
                <a:schemeClr val="accent4"/>
              </a:solidFill>
              <a:latin typeface="JetBrains Mono ExtraBold"/>
              <a:ea typeface="JetBrains Mono ExtraBold"/>
              <a:cs typeface="JetBrains Mono ExtraBold"/>
              <a:sym typeface="JetBrains Mono ExtraBold"/>
            </a:endParaRPr>
          </a:p>
        </p:txBody>
      </p:sp>
      <p:sp>
        <p:nvSpPr>
          <p:cNvPr id="83" name="Google Shape;83;p15"/>
          <p:cNvSpPr txBox="1"/>
          <p:nvPr/>
        </p:nvSpPr>
        <p:spPr>
          <a:xfrm>
            <a:off x="755350" y="930175"/>
            <a:ext cx="3384600" cy="33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JetBrains Mono"/>
                <a:ea typeface="JetBrains Mono"/>
                <a:cs typeface="JetBrains Mono"/>
                <a:sym typeface="JetBrains Mono"/>
              </a:rPr>
              <a:t>Corresponding Author:</a:t>
            </a:r>
            <a:r>
              <a:rPr lang="en" sz="1500">
                <a:solidFill>
                  <a:schemeClr val="dk2"/>
                </a:solidFill>
                <a:latin typeface="JetBrains Mono"/>
                <a:ea typeface="JetBrains Mono"/>
                <a:cs typeface="JetBrains Mono"/>
                <a:sym typeface="JetBrains Mono"/>
              </a:rPr>
              <a:t> </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500">
                <a:solidFill>
                  <a:schemeClr val="dk2"/>
                </a:solidFill>
                <a:latin typeface="JetBrains Mono"/>
                <a:ea typeface="JetBrains Mono"/>
                <a:cs typeface="JetBrains Mono"/>
                <a:sym typeface="JetBrains Mono"/>
              </a:rPr>
              <a:t>Justin L. Sonnenburg</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999999"/>
                </a:solidFill>
                <a:latin typeface="JetBrains Mono"/>
                <a:ea typeface="JetBrains Mono"/>
                <a:cs typeface="JetBrains Mono"/>
                <a:sym typeface="JetBrains Mono"/>
              </a:rPr>
              <a:t>Stanford University, </a:t>
            </a:r>
            <a:endParaRPr>
              <a:solidFill>
                <a:srgbClr val="999999"/>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999999"/>
                </a:solidFill>
                <a:latin typeface="JetBrains Mono"/>
                <a:ea typeface="JetBrains Mono"/>
                <a:cs typeface="JetBrains Mono"/>
                <a:sym typeface="JetBrains Mono"/>
              </a:rPr>
              <a:t>Dept. of Microbiology and Immunology</a:t>
            </a:r>
            <a:endParaRPr>
              <a:solidFill>
                <a:srgbClr val="999999"/>
              </a:solidFill>
              <a:latin typeface="JetBrains Mono"/>
              <a:ea typeface="JetBrains Mono"/>
              <a:cs typeface="JetBrains Mono"/>
              <a:sym typeface="JetBrains Mono"/>
            </a:endParaRPr>
          </a:p>
          <a:p>
            <a:pPr indent="0" lvl="0" marL="0" rtl="0" algn="l">
              <a:spcBef>
                <a:spcPts val="0"/>
              </a:spcBef>
              <a:spcAft>
                <a:spcPts val="0"/>
              </a:spcAft>
              <a:buNone/>
            </a:pPr>
            <a:r>
              <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b="1" lang="en" sz="1500">
                <a:solidFill>
                  <a:schemeClr val="dk2"/>
                </a:solidFill>
                <a:latin typeface="JetBrains Mono"/>
                <a:ea typeface="JetBrains Mono"/>
                <a:cs typeface="JetBrains Mono"/>
                <a:sym typeface="JetBrains Mono"/>
              </a:rPr>
              <a:t>Co-First Authors:</a:t>
            </a:r>
            <a:endParaRPr b="1"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500">
                <a:solidFill>
                  <a:schemeClr val="dk2"/>
                </a:solidFill>
                <a:latin typeface="JetBrains Mono"/>
                <a:ea typeface="JetBrains Mono"/>
                <a:cs typeface="JetBrains Mono"/>
                <a:sym typeface="JetBrains Mono"/>
              </a:rPr>
              <a:t>Matthew R. Olm &amp; Dylan Dahan</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b="1" lang="en" sz="1500">
                <a:solidFill>
                  <a:schemeClr val="dk2"/>
                </a:solidFill>
                <a:latin typeface="JetBrains Mono"/>
                <a:ea typeface="JetBrains Mono"/>
                <a:cs typeface="JetBrains Mono"/>
                <a:sym typeface="JetBrains Mono"/>
              </a:rPr>
              <a:t>Funding:</a:t>
            </a:r>
            <a:r>
              <a:rPr lang="en" sz="1500">
                <a:solidFill>
                  <a:schemeClr val="dk2"/>
                </a:solidFill>
                <a:latin typeface="JetBrains Mono"/>
                <a:ea typeface="JetBrains Mono"/>
                <a:cs typeface="JetBrains Mono"/>
                <a:sym typeface="JetBrains Mono"/>
              </a:rPr>
              <a:t> NIH (DP1-AT009892, R01-DK085025), NSF GRFP, Bill &amp; Melinda Gates Foundation</a:t>
            </a:r>
            <a:endParaRPr sz="1500">
              <a:solidFill>
                <a:schemeClr val="dk2"/>
              </a:solidFill>
              <a:latin typeface="JetBrains Mono"/>
              <a:ea typeface="JetBrains Mono"/>
              <a:cs typeface="JetBrains Mono"/>
              <a:sym typeface="JetBrains Mono"/>
            </a:endParaRPr>
          </a:p>
        </p:txBody>
      </p:sp>
      <p:sp>
        <p:nvSpPr>
          <p:cNvPr id="84" name="Google Shape;84;p15"/>
          <p:cNvSpPr txBox="1"/>
          <p:nvPr/>
        </p:nvSpPr>
        <p:spPr>
          <a:xfrm>
            <a:off x="5157950" y="930175"/>
            <a:ext cx="3384600" cy="33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JetBrains Mono"/>
                <a:ea typeface="JetBrains Mono"/>
                <a:cs typeface="JetBrains Mono"/>
                <a:sym typeface="JetBrains Mono"/>
              </a:rPr>
              <a:t>Journal</a:t>
            </a:r>
            <a:r>
              <a:rPr b="1" lang="en" sz="1500">
                <a:solidFill>
                  <a:schemeClr val="dk2"/>
                </a:solidFill>
                <a:latin typeface="JetBrains Mono"/>
                <a:ea typeface="JetBrains Mono"/>
                <a:cs typeface="JetBrains Mono"/>
                <a:sym typeface="JetBrains Mono"/>
              </a:rPr>
              <a:t>:</a:t>
            </a:r>
            <a:r>
              <a:rPr lang="en" sz="1500">
                <a:solidFill>
                  <a:schemeClr val="dk2"/>
                </a:solidFill>
                <a:latin typeface="JetBrains Mono"/>
                <a:ea typeface="JetBrains Mono"/>
                <a:cs typeface="JetBrains Mono"/>
                <a:sym typeface="JetBrains Mono"/>
              </a:rPr>
              <a:t> </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500">
                <a:solidFill>
                  <a:schemeClr val="dk2"/>
                </a:solidFill>
                <a:latin typeface="JetBrains Mono"/>
                <a:ea typeface="JetBrains Mono"/>
                <a:cs typeface="JetBrains Mono"/>
                <a:sym typeface="JetBrains Mono"/>
              </a:rPr>
              <a:t>Science (Impact Factor ~56)</a:t>
            </a:r>
            <a:endParaRPr sz="1500">
              <a:solidFill>
                <a:srgbClr val="999999"/>
              </a:solidFill>
              <a:latin typeface="JetBrains Mono"/>
              <a:ea typeface="JetBrains Mono"/>
              <a:cs typeface="JetBrains Mono"/>
              <a:sym typeface="JetBrains Mono"/>
            </a:endParaRPr>
          </a:p>
          <a:p>
            <a:pPr indent="0" lvl="0" marL="0" rtl="0" algn="l">
              <a:spcBef>
                <a:spcPts val="0"/>
              </a:spcBef>
              <a:spcAft>
                <a:spcPts val="0"/>
              </a:spcAft>
              <a:buNone/>
            </a:pPr>
            <a:r>
              <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b="1" lang="en" sz="1500">
                <a:solidFill>
                  <a:schemeClr val="dk2"/>
                </a:solidFill>
                <a:latin typeface="JetBrains Mono"/>
                <a:ea typeface="JetBrains Mono"/>
                <a:cs typeface="JetBrains Mono"/>
                <a:sym typeface="JetBrains Mono"/>
              </a:rPr>
              <a:t>Published:</a:t>
            </a:r>
            <a:endParaRPr b="1"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500">
                <a:solidFill>
                  <a:schemeClr val="dk2"/>
                </a:solidFill>
                <a:latin typeface="JetBrains Mono"/>
                <a:ea typeface="JetBrains Mono"/>
                <a:cs typeface="JetBrains Mono"/>
                <a:sym typeface="JetBrains Mono"/>
              </a:rPr>
              <a:t>Matthew R. Olm &amp; Dylan Dahan</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b="1" lang="en" sz="1500">
                <a:solidFill>
                  <a:schemeClr val="dk2"/>
                </a:solidFill>
                <a:latin typeface="JetBrains Mono"/>
                <a:ea typeface="JetBrains Mono"/>
                <a:cs typeface="JetBrains Mono"/>
                <a:sym typeface="JetBrains Mono"/>
              </a:rPr>
              <a:t>Data Availability: </a:t>
            </a:r>
            <a:r>
              <a:rPr lang="en" sz="1500">
                <a:solidFill>
                  <a:schemeClr val="dk2"/>
                </a:solidFill>
                <a:latin typeface="JetBrains Mono"/>
                <a:ea typeface="JetBrains Mono"/>
                <a:cs typeface="JetBrains Mono"/>
                <a:sym typeface="JetBrains Mono"/>
              </a:rPr>
              <a:t>BioProject PRJEB49206</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b="1" lang="en" sz="1500">
                <a:solidFill>
                  <a:schemeClr val="dk2"/>
                </a:solidFill>
                <a:latin typeface="JetBrains Mono"/>
                <a:ea typeface="JetBrains Mono"/>
                <a:cs typeface="JetBrains Mono"/>
                <a:sym typeface="JetBrains Mono"/>
              </a:rPr>
              <a:t>Ethical Note</a:t>
            </a:r>
            <a:r>
              <a:rPr b="1" lang="en" sz="1500">
                <a:solidFill>
                  <a:schemeClr val="dk2"/>
                </a:solidFill>
                <a:latin typeface="JetBrains Mono"/>
                <a:ea typeface="JetBrains Mono"/>
                <a:cs typeface="JetBrains Mono"/>
                <a:sym typeface="JetBrains Mono"/>
              </a:rPr>
              <a:t>:</a:t>
            </a:r>
            <a:endParaRPr sz="15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500">
                <a:solidFill>
                  <a:schemeClr val="dk2"/>
                </a:solidFill>
                <a:latin typeface="JetBrains Mono"/>
                <a:ea typeface="JetBrains Mono"/>
                <a:cs typeface="JetBrains Mono"/>
                <a:sym typeface="JetBrains Mono"/>
              </a:rPr>
              <a:t>MTA w/ Tanzania NIMR; verbal consent from Hadza w/ translator</a:t>
            </a:r>
            <a:endParaRPr sz="1500">
              <a:solidFill>
                <a:schemeClr val="dk2"/>
              </a:solidFill>
              <a:latin typeface="JetBrains Mono"/>
              <a:ea typeface="JetBrains Mono"/>
              <a:cs typeface="JetBrains Mono"/>
              <a:sym typeface="JetBrains Mono"/>
            </a:endParaRPr>
          </a:p>
        </p:txBody>
      </p:sp>
      <p:sp>
        <p:nvSpPr>
          <p:cNvPr id="85" name="Google Shape;85;p15"/>
          <p:cNvSpPr/>
          <p:nvPr/>
        </p:nvSpPr>
        <p:spPr>
          <a:xfrm rot="5400000">
            <a:off x="4401525" y="397350"/>
            <a:ext cx="351600" cy="915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txBox="1"/>
          <p:nvPr/>
        </p:nvSpPr>
        <p:spPr>
          <a:xfrm>
            <a:off x="3878650" y="4759350"/>
            <a:ext cx="526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JetBrains Mono"/>
                <a:ea typeface="JetBrains Mono"/>
                <a:cs typeface="JetBrains Mono"/>
                <a:sym typeface="JetBrains Mono"/>
              </a:rPr>
              <a:t>Olm et al., Science 376, 1220-1223 (2022)</a:t>
            </a:r>
            <a:endParaRPr sz="1600">
              <a:solidFill>
                <a:schemeClr val="lt2"/>
              </a:solidFill>
              <a:latin typeface="JetBrains Mono"/>
              <a:ea typeface="JetBrains Mono"/>
              <a:cs typeface="JetBrains Mono"/>
              <a:sym typeface="JetBrains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p:nvPr/>
        </p:nvSpPr>
        <p:spPr>
          <a:xfrm rot="5400000">
            <a:off x="1511979" y="-563825"/>
            <a:ext cx="1675500" cy="41088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6"/>
          <p:cNvSpPr/>
          <p:nvPr/>
        </p:nvSpPr>
        <p:spPr>
          <a:xfrm rot="5400000">
            <a:off x="5956500" y="-563825"/>
            <a:ext cx="1675500" cy="41088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6"/>
          <p:cNvSpPr/>
          <p:nvPr/>
        </p:nvSpPr>
        <p:spPr>
          <a:xfrm rot="5400000">
            <a:off x="2177541" y="-1573875"/>
            <a:ext cx="344400" cy="4108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6"/>
          <p:cNvSpPr/>
          <p:nvPr/>
        </p:nvSpPr>
        <p:spPr>
          <a:xfrm rot="5400000">
            <a:off x="6622063" y="-1573875"/>
            <a:ext cx="344400" cy="4108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6"/>
          <p:cNvSpPr/>
          <p:nvPr/>
        </p:nvSpPr>
        <p:spPr>
          <a:xfrm rot="5400000">
            <a:off x="3819375" y="-526075"/>
            <a:ext cx="1515900" cy="85059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6"/>
          <p:cNvSpPr/>
          <p:nvPr/>
        </p:nvSpPr>
        <p:spPr>
          <a:xfrm rot="5400000">
            <a:off x="4405117" y="-1427250"/>
            <a:ext cx="344400" cy="85059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6"/>
          <p:cNvSpPr/>
          <p:nvPr/>
        </p:nvSpPr>
        <p:spPr>
          <a:xfrm rot="5400000">
            <a:off x="4401525" y="397350"/>
            <a:ext cx="351600" cy="915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6"/>
          <p:cNvSpPr txBox="1"/>
          <p:nvPr/>
        </p:nvSpPr>
        <p:spPr>
          <a:xfrm>
            <a:off x="3878650" y="4759350"/>
            <a:ext cx="526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JetBrains Mono"/>
                <a:ea typeface="JetBrains Mono"/>
                <a:cs typeface="JetBrains Mono"/>
                <a:sym typeface="JetBrains Mono"/>
              </a:rPr>
              <a:t>Olm et al., Science 376, 1220-1223 (2022)</a:t>
            </a:r>
            <a:endParaRPr sz="1600">
              <a:solidFill>
                <a:schemeClr val="lt2"/>
              </a:solidFill>
              <a:latin typeface="JetBrains Mono"/>
              <a:ea typeface="JetBrains Mono"/>
              <a:cs typeface="JetBrains Mono"/>
              <a:sym typeface="JetBrains Mono"/>
            </a:endParaRPr>
          </a:p>
        </p:txBody>
      </p:sp>
      <p:sp>
        <p:nvSpPr>
          <p:cNvPr id="99" name="Google Shape;99;p16"/>
          <p:cNvSpPr txBox="1"/>
          <p:nvPr/>
        </p:nvSpPr>
        <p:spPr>
          <a:xfrm>
            <a:off x="295325" y="226575"/>
            <a:ext cx="4108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Research Motivation</a:t>
            </a:r>
            <a:endParaRPr sz="2100">
              <a:solidFill>
                <a:schemeClr val="lt1"/>
              </a:solidFill>
              <a:latin typeface="JetBrains Mono ExtraBold"/>
              <a:ea typeface="JetBrains Mono ExtraBold"/>
              <a:cs typeface="JetBrains Mono ExtraBold"/>
              <a:sym typeface="JetBrains Mono ExtraBold"/>
            </a:endParaRPr>
          </a:p>
        </p:txBody>
      </p:sp>
      <p:sp>
        <p:nvSpPr>
          <p:cNvPr id="100" name="Google Shape;100;p16"/>
          <p:cNvSpPr txBox="1"/>
          <p:nvPr/>
        </p:nvSpPr>
        <p:spPr>
          <a:xfrm>
            <a:off x="4739850" y="226575"/>
            <a:ext cx="4108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Knowledge Gap</a:t>
            </a:r>
            <a:endParaRPr sz="2100">
              <a:solidFill>
                <a:schemeClr val="lt1"/>
              </a:solidFill>
              <a:latin typeface="JetBrains Mono ExtraBold"/>
              <a:ea typeface="JetBrains Mono ExtraBold"/>
              <a:cs typeface="JetBrains Mono ExtraBold"/>
              <a:sym typeface="JetBrains Mono ExtraBold"/>
            </a:endParaRPr>
          </a:p>
        </p:txBody>
      </p:sp>
      <p:sp>
        <p:nvSpPr>
          <p:cNvPr id="101" name="Google Shape;101;p16"/>
          <p:cNvSpPr txBox="1"/>
          <p:nvPr/>
        </p:nvSpPr>
        <p:spPr>
          <a:xfrm>
            <a:off x="324375" y="2571750"/>
            <a:ext cx="4108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Research Questions</a:t>
            </a:r>
            <a:endParaRPr sz="2100">
              <a:solidFill>
                <a:schemeClr val="lt1"/>
              </a:solidFill>
              <a:latin typeface="JetBrains Mono ExtraBold"/>
              <a:ea typeface="JetBrains Mono ExtraBold"/>
              <a:cs typeface="JetBrains Mono ExtraBold"/>
              <a:sym typeface="JetBrains Mono ExtraBold"/>
            </a:endParaRPr>
          </a:p>
        </p:txBody>
      </p:sp>
      <p:sp>
        <p:nvSpPr>
          <p:cNvPr id="102" name="Google Shape;102;p16"/>
          <p:cNvSpPr txBox="1"/>
          <p:nvPr/>
        </p:nvSpPr>
        <p:spPr>
          <a:xfrm>
            <a:off x="295325" y="652825"/>
            <a:ext cx="4108800" cy="167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JetBrains Mono"/>
                <a:ea typeface="JetBrains Mono"/>
                <a:cs typeface="JetBrains Mono"/>
                <a:sym typeface="JetBrains Mono"/>
              </a:rPr>
              <a:t>The infant gut microbiome undergoes a critical assembly process beginning at birth. </a:t>
            </a:r>
            <a:r>
              <a:rPr lang="en">
                <a:solidFill>
                  <a:schemeClr val="dk2"/>
                </a:solidFill>
                <a:latin typeface="JetBrains Mono"/>
                <a:ea typeface="JetBrains Mono"/>
                <a:cs typeface="JetBrains Mono"/>
                <a:sym typeface="JetBrains Mono"/>
              </a:rPr>
              <a:t>Species acquired early may shape the final adult microbiome through niche partitioning and establishment.</a:t>
            </a:r>
            <a:endParaRPr>
              <a:solidFill>
                <a:schemeClr val="dk2"/>
              </a:solidFill>
              <a:latin typeface="JetBrains Mono"/>
              <a:ea typeface="JetBrains Mono"/>
              <a:cs typeface="JetBrains Mono"/>
              <a:sym typeface="JetBrains Mono"/>
            </a:endParaRPr>
          </a:p>
        </p:txBody>
      </p:sp>
      <p:sp>
        <p:nvSpPr>
          <p:cNvPr id="103" name="Google Shape;103;p16"/>
          <p:cNvSpPr txBox="1"/>
          <p:nvPr/>
        </p:nvSpPr>
        <p:spPr>
          <a:xfrm>
            <a:off x="4739850" y="652825"/>
            <a:ext cx="4108800" cy="167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JetBrains Mono"/>
                <a:ea typeface="JetBrains Mono"/>
                <a:cs typeface="JetBrains Mono"/>
                <a:sym typeface="JetBrains Mono"/>
              </a:rPr>
              <a:t>Microbiome assembly is well-characterized in industrialized infants, but largely unknown in non-industrialized populations, including hunter-gatherer </a:t>
            </a:r>
            <a:r>
              <a:rPr b="1" lang="en">
                <a:solidFill>
                  <a:schemeClr val="dk2"/>
                </a:solidFill>
                <a:latin typeface="JetBrains Mono"/>
                <a:ea typeface="JetBrains Mono"/>
                <a:cs typeface="JetBrains Mono"/>
                <a:sym typeface="JetBrains Mono"/>
              </a:rPr>
              <a:t>societies</a:t>
            </a:r>
            <a:r>
              <a:rPr b="1" lang="en">
                <a:solidFill>
                  <a:schemeClr val="dk2"/>
                </a:solidFill>
                <a:latin typeface="JetBrains Mono"/>
                <a:ea typeface="JetBrains Mono"/>
                <a:cs typeface="JetBrains Mono"/>
                <a:sym typeface="JetBrains Mono"/>
              </a:rPr>
              <a:t> like the Hadza of Tanzania.</a:t>
            </a:r>
            <a:endParaRPr>
              <a:solidFill>
                <a:schemeClr val="dk2"/>
              </a:solidFill>
              <a:latin typeface="JetBrains Mono"/>
              <a:ea typeface="JetBrains Mono"/>
              <a:cs typeface="JetBrains Mono"/>
              <a:sym typeface="JetBrains Mono"/>
            </a:endParaRPr>
          </a:p>
        </p:txBody>
      </p:sp>
      <p:sp>
        <p:nvSpPr>
          <p:cNvPr id="104" name="Google Shape;104;p16"/>
          <p:cNvSpPr txBox="1"/>
          <p:nvPr/>
        </p:nvSpPr>
        <p:spPr>
          <a:xfrm>
            <a:off x="324375" y="3040875"/>
            <a:ext cx="8505900" cy="16755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2"/>
              </a:buClr>
              <a:buSzPts val="1400"/>
              <a:buFont typeface="JetBrains Mono"/>
              <a:buAutoNum type="arabicPeriod"/>
            </a:pPr>
            <a:r>
              <a:rPr lang="en">
                <a:solidFill>
                  <a:schemeClr val="dk2"/>
                </a:solidFill>
                <a:latin typeface="JetBrains Mono"/>
                <a:ea typeface="JetBrains Mono"/>
                <a:cs typeface="JetBrains Mono"/>
                <a:sym typeface="JetBrains Mono"/>
              </a:rPr>
              <a:t>When do infant microbiomes from different lifestyles diverge?</a:t>
            </a:r>
            <a:endParaRPr>
              <a:solidFill>
                <a:schemeClr val="dk2"/>
              </a:solidFill>
              <a:latin typeface="JetBrains Mono"/>
              <a:ea typeface="JetBrains Mono"/>
              <a:cs typeface="JetBrains Mono"/>
              <a:sym typeface="JetBrains Mono"/>
            </a:endParaRPr>
          </a:p>
          <a:p>
            <a:pPr indent="-317500" lvl="0" marL="457200" rtl="0" algn="l">
              <a:lnSpc>
                <a:spcPct val="115000"/>
              </a:lnSpc>
              <a:spcBef>
                <a:spcPts val="0"/>
              </a:spcBef>
              <a:spcAft>
                <a:spcPts val="0"/>
              </a:spcAft>
              <a:buClr>
                <a:schemeClr val="dk2"/>
              </a:buClr>
              <a:buSzPts val="1400"/>
              <a:buFont typeface="JetBrains Mono"/>
              <a:buAutoNum type="arabicPeriod"/>
            </a:pPr>
            <a:r>
              <a:rPr lang="en">
                <a:solidFill>
                  <a:schemeClr val="dk2"/>
                </a:solidFill>
                <a:latin typeface="JetBrains Mono"/>
                <a:ea typeface="JetBrains Mono"/>
                <a:cs typeface="JetBrains Mono"/>
                <a:sym typeface="JetBrains Mono"/>
              </a:rPr>
              <a:t>What microbes and functions characterize infants from different lifestyles?</a:t>
            </a:r>
            <a:endParaRPr>
              <a:solidFill>
                <a:schemeClr val="dk2"/>
              </a:solidFill>
              <a:latin typeface="JetBrains Mono"/>
              <a:ea typeface="JetBrains Mono"/>
              <a:cs typeface="JetBrains Mono"/>
              <a:sym typeface="JetBrains Mono"/>
            </a:endParaRPr>
          </a:p>
          <a:p>
            <a:pPr indent="-317500" lvl="0" marL="457200" rtl="0" algn="l">
              <a:lnSpc>
                <a:spcPct val="115000"/>
              </a:lnSpc>
              <a:spcBef>
                <a:spcPts val="0"/>
              </a:spcBef>
              <a:spcAft>
                <a:spcPts val="0"/>
              </a:spcAft>
              <a:buClr>
                <a:schemeClr val="dk2"/>
              </a:buClr>
              <a:buSzPts val="1400"/>
              <a:buFont typeface="JetBrains Mono"/>
              <a:buAutoNum type="arabicPeriod"/>
            </a:pPr>
            <a:r>
              <a:rPr lang="en">
                <a:solidFill>
                  <a:schemeClr val="dk2"/>
                </a:solidFill>
                <a:latin typeface="JetBrains Mono"/>
                <a:ea typeface="JetBrains Mono"/>
                <a:cs typeface="JetBrains Mono"/>
                <a:sym typeface="JetBrains Mono"/>
              </a:rPr>
              <a:t>Are there differences in taxa vertically transmitted from mothers to infants that seed the assembly process?</a:t>
            </a:r>
            <a:endParaRPr>
              <a:solidFill>
                <a:schemeClr val="dk2"/>
              </a:solidFill>
              <a:latin typeface="JetBrains Mono"/>
              <a:ea typeface="JetBrains Mono"/>
              <a:cs typeface="JetBrains Mono"/>
              <a:sym typeface="JetBrains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7" title="Olm 2022 ANEQ 505.png"/>
          <p:cNvPicPr preferRelativeResize="0"/>
          <p:nvPr/>
        </p:nvPicPr>
        <p:blipFill>
          <a:blip r:embed="rId3">
            <a:alphaModFix amt="4000"/>
          </a:blip>
          <a:stretch>
            <a:fillRect/>
          </a:stretch>
        </p:blipFill>
        <p:spPr>
          <a:xfrm>
            <a:off x="0" y="0"/>
            <a:ext cx="9144000" cy="5143505"/>
          </a:xfrm>
          <a:prstGeom prst="rect">
            <a:avLst/>
          </a:prstGeom>
          <a:noFill/>
          <a:ln>
            <a:noFill/>
          </a:ln>
        </p:spPr>
      </p:pic>
      <p:sp>
        <p:nvSpPr>
          <p:cNvPr id="110" name="Google Shape;110;p17"/>
          <p:cNvSpPr txBox="1"/>
          <p:nvPr/>
        </p:nvSpPr>
        <p:spPr>
          <a:xfrm>
            <a:off x="1053450" y="1725900"/>
            <a:ext cx="7037100" cy="169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b="1" lang="en" sz="2200">
                <a:solidFill>
                  <a:schemeClr val="dk2"/>
                </a:solidFill>
                <a:latin typeface="JetBrains Mono"/>
                <a:ea typeface="JetBrains Mono"/>
                <a:cs typeface="JetBrains Mono"/>
                <a:sym typeface="JetBrains Mono"/>
              </a:rPr>
              <a:t>Industrialization impacts the gut microbiome of infants, which can be seen both temporally in development and in the functions the microbes conduct.</a:t>
            </a:r>
            <a:endParaRPr b="1" sz="2200">
              <a:solidFill>
                <a:schemeClr val="dk2"/>
              </a:solidFill>
              <a:latin typeface="JetBrains Mono"/>
              <a:ea typeface="JetBrains Mono"/>
              <a:cs typeface="JetBrains Mono"/>
              <a:sym typeface="JetBrains Mo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p:nvPr/>
        </p:nvSpPr>
        <p:spPr>
          <a:xfrm rot="5400000">
            <a:off x="345488" y="997700"/>
            <a:ext cx="2496300" cy="27534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8"/>
          <p:cNvSpPr/>
          <p:nvPr/>
        </p:nvSpPr>
        <p:spPr>
          <a:xfrm rot="5400000">
            <a:off x="3501113" y="839702"/>
            <a:ext cx="2141700" cy="27534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8"/>
          <p:cNvSpPr/>
          <p:nvPr/>
        </p:nvSpPr>
        <p:spPr>
          <a:xfrm rot="5400000">
            <a:off x="1421438" y="-422750"/>
            <a:ext cx="344400" cy="2753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8"/>
          <p:cNvSpPr/>
          <p:nvPr/>
        </p:nvSpPr>
        <p:spPr>
          <a:xfrm rot="5400000">
            <a:off x="4399776" y="-422750"/>
            <a:ext cx="344400" cy="2753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8"/>
          <p:cNvSpPr txBox="1"/>
          <p:nvPr/>
        </p:nvSpPr>
        <p:spPr>
          <a:xfrm>
            <a:off x="216861" y="746200"/>
            <a:ext cx="2753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lt1"/>
                </a:solidFill>
                <a:latin typeface="JetBrains Mono ExtraBold"/>
                <a:ea typeface="JetBrains Mono ExtraBold"/>
                <a:cs typeface="JetBrains Mono ExtraBold"/>
                <a:sym typeface="JetBrains Mono ExtraBold"/>
              </a:rPr>
              <a:t>16S rRNA Meta-analysis</a:t>
            </a:r>
            <a:endParaRPr sz="1500">
              <a:solidFill>
                <a:schemeClr val="lt1"/>
              </a:solidFill>
              <a:latin typeface="JetBrains Mono ExtraBold"/>
              <a:ea typeface="JetBrains Mono ExtraBold"/>
              <a:cs typeface="JetBrains Mono ExtraBold"/>
              <a:sym typeface="JetBrains Mono ExtraBold"/>
            </a:endParaRPr>
          </a:p>
        </p:txBody>
      </p:sp>
      <p:sp>
        <p:nvSpPr>
          <p:cNvPr id="120" name="Google Shape;120;p18"/>
          <p:cNvSpPr txBox="1"/>
          <p:nvPr/>
        </p:nvSpPr>
        <p:spPr>
          <a:xfrm>
            <a:off x="216863" y="1760475"/>
            <a:ext cx="2753400" cy="178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chemeClr val="dk2"/>
                </a:solidFill>
                <a:latin typeface="JetBrains Mono"/>
                <a:ea typeface="JetBrains Mono"/>
                <a:cs typeface="JetBrains Mono"/>
                <a:sym typeface="JetBrains Mono"/>
              </a:rPr>
              <a:t>Includes:</a:t>
            </a:r>
            <a:endParaRPr b="1" sz="13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 </a:t>
            </a:r>
            <a:r>
              <a:rPr b="1" lang="en" sz="1200">
                <a:solidFill>
                  <a:schemeClr val="dk2"/>
                </a:solidFill>
                <a:latin typeface="JetBrains Mono"/>
                <a:ea typeface="JetBrains Mono"/>
                <a:cs typeface="JetBrains Mono"/>
                <a:sym typeface="JetBrains Mono"/>
              </a:rPr>
              <a:t>62 Hadza infant samples</a:t>
            </a:r>
            <a:endParaRPr b="1" sz="12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 </a:t>
            </a:r>
            <a:r>
              <a:rPr b="1" lang="en" sz="1200">
                <a:solidFill>
                  <a:schemeClr val="dk2"/>
                </a:solidFill>
                <a:latin typeface="JetBrains Mono"/>
                <a:ea typeface="JetBrains Mono"/>
                <a:cs typeface="JetBrains Mono"/>
                <a:sym typeface="JetBrains Mono"/>
              </a:rPr>
              <a:t>Industrialized populations</a:t>
            </a:r>
            <a:r>
              <a:rPr lang="en" sz="1200">
                <a:solidFill>
                  <a:schemeClr val="dk2"/>
                </a:solidFill>
                <a:latin typeface="JetBrains Mono"/>
                <a:ea typeface="JetBrains Mono"/>
                <a:cs typeface="JetBrains Mono"/>
                <a:sym typeface="JetBrains Mono"/>
              </a:rPr>
              <a:t>  </a:t>
            </a:r>
            <a:r>
              <a:rPr lang="en" sz="1000">
                <a:solidFill>
                  <a:srgbClr val="666666"/>
                </a:solidFill>
                <a:latin typeface="JetBrains Mono"/>
                <a:ea typeface="JetBrains Mono"/>
                <a:cs typeface="JetBrains Mono"/>
                <a:sym typeface="JetBrains Mono"/>
              </a:rPr>
              <a:t>(US, Sweden, Finland, etc.)</a:t>
            </a:r>
            <a:endParaRPr sz="1000">
              <a:solidFill>
                <a:srgbClr val="666666"/>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 </a:t>
            </a:r>
            <a:r>
              <a:rPr b="1" lang="en" sz="1200">
                <a:solidFill>
                  <a:schemeClr val="dk2"/>
                </a:solidFill>
                <a:latin typeface="JetBrains Mono"/>
                <a:ea typeface="JetBrains Mono"/>
                <a:cs typeface="JetBrains Mono"/>
                <a:sym typeface="JetBrains Mono"/>
              </a:rPr>
              <a:t>Transitional populations</a:t>
            </a:r>
            <a:r>
              <a:rPr lang="en" sz="1200">
                <a:solidFill>
                  <a:schemeClr val="dk2"/>
                </a:solidFill>
                <a:latin typeface="JetBrains Mono"/>
                <a:ea typeface="JetBrains Mono"/>
                <a:cs typeface="JetBrains Mono"/>
                <a:sym typeface="JetBrains Mono"/>
              </a:rPr>
              <a:t> </a:t>
            </a:r>
            <a:r>
              <a:rPr lang="en" sz="1000">
                <a:solidFill>
                  <a:srgbClr val="666666"/>
                </a:solidFill>
                <a:latin typeface="JetBrains Mono"/>
                <a:ea typeface="JetBrains Mono"/>
                <a:cs typeface="JetBrains Mono"/>
                <a:sym typeface="JetBrains Mono"/>
              </a:rPr>
              <a:t>(Bangladesh, India, Peru)</a:t>
            </a:r>
            <a:endParaRPr sz="1000">
              <a:solidFill>
                <a:srgbClr val="666666"/>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 </a:t>
            </a:r>
            <a:r>
              <a:rPr b="1" lang="en" sz="1200">
                <a:solidFill>
                  <a:schemeClr val="dk2"/>
                </a:solidFill>
                <a:latin typeface="JetBrains Mono"/>
                <a:ea typeface="JetBrains Mono"/>
                <a:cs typeface="JetBrains Mono"/>
                <a:sym typeface="JetBrains Mono"/>
              </a:rPr>
              <a:t>Non-industrialized</a:t>
            </a:r>
            <a:r>
              <a:rPr lang="en" sz="1200">
                <a:solidFill>
                  <a:schemeClr val="dk2"/>
                </a:solidFill>
                <a:latin typeface="JetBrains Mono"/>
                <a:ea typeface="JetBrains Mono"/>
                <a:cs typeface="JetBrains Mono"/>
                <a:sym typeface="JetBrains Mono"/>
              </a:rPr>
              <a:t> </a:t>
            </a:r>
            <a:endParaRPr sz="12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000">
                <a:solidFill>
                  <a:srgbClr val="666666"/>
                </a:solidFill>
                <a:latin typeface="JetBrains Mono"/>
                <a:ea typeface="JetBrains Mono"/>
                <a:cs typeface="JetBrains Mono"/>
                <a:sym typeface="JetBrains Mono"/>
              </a:rPr>
              <a:t>(Hadza, Bolivia, Tsimane)</a:t>
            </a:r>
            <a:endParaRPr sz="1000">
              <a:solidFill>
                <a:srgbClr val="666666"/>
              </a:solidFill>
              <a:latin typeface="JetBrains Mono"/>
              <a:ea typeface="JetBrains Mono"/>
              <a:cs typeface="JetBrains Mono"/>
              <a:sym typeface="JetBrains Mono"/>
            </a:endParaRPr>
          </a:p>
        </p:txBody>
      </p:sp>
      <p:sp>
        <p:nvSpPr>
          <p:cNvPr id="121" name="Google Shape;121;p18"/>
          <p:cNvSpPr/>
          <p:nvPr/>
        </p:nvSpPr>
        <p:spPr>
          <a:xfrm rot="5400000">
            <a:off x="6170588" y="1100325"/>
            <a:ext cx="2759700" cy="27534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8"/>
          <p:cNvSpPr/>
          <p:nvPr/>
        </p:nvSpPr>
        <p:spPr>
          <a:xfrm rot="5400000">
            <a:off x="7378245" y="-422750"/>
            <a:ext cx="344400" cy="27534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8"/>
          <p:cNvSpPr txBox="1"/>
          <p:nvPr/>
        </p:nvSpPr>
        <p:spPr>
          <a:xfrm>
            <a:off x="3195263" y="746200"/>
            <a:ext cx="2753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lt1"/>
                </a:solidFill>
                <a:latin typeface="JetBrains Mono ExtraBold"/>
                <a:ea typeface="JetBrains Mono ExtraBold"/>
                <a:cs typeface="JetBrains Mono ExtraBold"/>
                <a:sym typeface="JetBrains Mono ExtraBold"/>
              </a:rPr>
              <a:t>“Deep” Metagenomics</a:t>
            </a:r>
            <a:endParaRPr sz="1500">
              <a:solidFill>
                <a:schemeClr val="lt1"/>
              </a:solidFill>
              <a:latin typeface="JetBrains Mono ExtraBold"/>
              <a:ea typeface="JetBrains Mono ExtraBold"/>
              <a:cs typeface="JetBrains Mono ExtraBold"/>
              <a:sym typeface="JetBrains Mono ExtraBold"/>
            </a:endParaRPr>
          </a:p>
        </p:txBody>
      </p:sp>
      <p:sp>
        <p:nvSpPr>
          <p:cNvPr id="124" name="Google Shape;124;p18"/>
          <p:cNvSpPr txBox="1"/>
          <p:nvPr/>
        </p:nvSpPr>
        <p:spPr>
          <a:xfrm>
            <a:off x="6173661" y="746200"/>
            <a:ext cx="2753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lt1"/>
                </a:solidFill>
                <a:latin typeface="JetBrains Mono ExtraBold"/>
                <a:ea typeface="JetBrains Mono ExtraBold"/>
                <a:cs typeface="JetBrains Mono ExtraBold"/>
                <a:sym typeface="JetBrains Mono ExtraBold"/>
              </a:rPr>
              <a:t>Comparative Framework</a:t>
            </a:r>
            <a:endParaRPr sz="1500">
              <a:solidFill>
                <a:schemeClr val="lt1"/>
              </a:solidFill>
              <a:latin typeface="JetBrains Mono ExtraBold"/>
              <a:ea typeface="JetBrains Mono ExtraBold"/>
              <a:cs typeface="JetBrains Mono ExtraBold"/>
              <a:sym typeface="JetBrains Mono ExtraBold"/>
            </a:endParaRPr>
          </a:p>
        </p:txBody>
      </p:sp>
      <p:sp>
        <p:nvSpPr>
          <p:cNvPr id="125" name="Google Shape;125;p18"/>
          <p:cNvSpPr txBox="1"/>
          <p:nvPr/>
        </p:nvSpPr>
        <p:spPr>
          <a:xfrm>
            <a:off x="216861" y="1161700"/>
            <a:ext cx="2753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accent5"/>
                </a:solidFill>
                <a:latin typeface="JetBrains Mono ExtraBold"/>
                <a:ea typeface="JetBrains Mono ExtraBold"/>
                <a:cs typeface="JetBrains Mono ExtraBold"/>
                <a:sym typeface="JetBrains Mono ExtraBold"/>
              </a:rPr>
              <a:t>1,900 samples</a:t>
            </a:r>
            <a:endParaRPr sz="1500">
              <a:solidFill>
                <a:schemeClr val="accent5"/>
              </a:solidFill>
              <a:latin typeface="JetBrains Mono ExtraBold"/>
              <a:ea typeface="JetBrains Mono ExtraBold"/>
              <a:cs typeface="JetBrains Mono ExtraBold"/>
              <a:sym typeface="JetBrains Mono ExtraBold"/>
            </a:endParaRPr>
          </a:p>
        </p:txBody>
      </p:sp>
      <p:sp>
        <p:nvSpPr>
          <p:cNvPr id="126" name="Google Shape;126;p18"/>
          <p:cNvSpPr txBox="1"/>
          <p:nvPr/>
        </p:nvSpPr>
        <p:spPr>
          <a:xfrm>
            <a:off x="216863" y="1405600"/>
            <a:ext cx="2753400" cy="69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2"/>
                </a:solidFill>
                <a:latin typeface="JetBrains Mono"/>
                <a:ea typeface="JetBrains Mono"/>
                <a:cs typeface="JetBrains Mono"/>
                <a:sym typeface="JetBrains Mono"/>
              </a:rPr>
              <a:t>across 18 global populations</a:t>
            </a:r>
            <a:endParaRPr sz="1100">
              <a:solidFill>
                <a:schemeClr val="dk2"/>
              </a:solidFill>
              <a:latin typeface="JetBrains Mono"/>
              <a:ea typeface="JetBrains Mono"/>
              <a:cs typeface="JetBrains Mono"/>
              <a:sym typeface="JetBrains Mono"/>
            </a:endParaRPr>
          </a:p>
        </p:txBody>
      </p:sp>
      <p:sp>
        <p:nvSpPr>
          <p:cNvPr id="127" name="Google Shape;127;p18"/>
          <p:cNvSpPr txBox="1"/>
          <p:nvPr/>
        </p:nvSpPr>
        <p:spPr>
          <a:xfrm>
            <a:off x="3195336" y="1075255"/>
            <a:ext cx="2753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accent4"/>
                </a:solidFill>
                <a:latin typeface="JetBrains Mono ExtraBold"/>
                <a:ea typeface="JetBrains Mono ExtraBold"/>
                <a:cs typeface="JetBrains Mono ExtraBold"/>
                <a:sym typeface="JetBrains Mono ExtraBold"/>
              </a:rPr>
              <a:t>39 Hadza infants</a:t>
            </a:r>
            <a:endParaRPr sz="1500">
              <a:solidFill>
                <a:schemeClr val="accent4"/>
              </a:solidFill>
              <a:latin typeface="JetBrains Mono ExtraBold"/>
              <a:ea typeface="JetBrains Mono ExtraBold"/>
              <a:cs typeface="JetBrains Mono ExtraBold"/>
              <a:sym typeface="JetBrains Mono ExtraBold"/>
            </a:endParaRPr>
          </a:p>
        </p:txBody>
      </p:sp>
      <p:sp>
        <p:nvSpPr>
          <p:cNvPr id="128" name="Google Shape;128;p18"/>
          <p:cNvSpPr txBox="1"/>
          <p:nvPr/>
        </p:nvSpPr>
        <p:spPr>
          <a:xfrm>
            <a:off x="3195338" y="1319155"/>
            <a:ext cx="2753400" cy="34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2"/>
                </a:solidFill>
                <a:latin typeface="JetBrains Mono"/>
                <a:ea typeface="JetBrains Mono"/>
                <a:cs typeface="JetBrains Mono"/>
                <a:sym typeface="JetBrains Mono"/>
              </a:rPr>
              <a:t>+ 23 matched maternal samples</a:t>
            </a:r>
            <a:endParaRPr sz="1100">
              <a:solidFill>
                <a:schemeClr val="dk2"/>
              </a:solidFill>
              <a:latin typeface="JetBrains Mono"/>
              <a:ea typeface="JetBrains Mono"/>
              <a:cs typeface="JetBrains Mono"/>
              <a:sym typeface="JetBrains Mono"/>
            </a:endParaRPr>
          </a:p>
        </p:txBody>
      </p:sp>
      <p:sp>
        <p:nvSpPr>
          <p:cNvPr id="129" name="Google Shape;129;p18"/>
          <p:cNvSpPr txBox="1"/>
          <p:nvPr/>
        </p:nvSpPr>
        <p:spPr>
          <a:xfrm>
            <a:off x="3195263" y="1674030"/>
            <a:ext cx="2753400" cy="178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chemeClr val="dk2"/>
                </a:solidFill>
                <a:latin typeface="JetBrains Mono"/>
                <a:ea typeface="JetBrains Mono"/>
                <a:cs typeface="JetBrains Mono"/>
                <a:sym typeface="JetBrains Mono"/>
              </a:rPr>
              <a:t>Analyses</a:t>
            </a:r>
            <a:r>
              <a:rPr b="1" lang="en" sz="1300">
                <a:solidFill>
                  <a:schemeClr val="dk2"/>
                </a:solidFill>
                <a:latin typeface="JetBrains Mono"/>
                <a:ea typeface="JetBrains Mono"/>
                <a:cs typeface="JetBrains Mono"/>
                <a:sym typeface="JetBrains Mono"/>
              </a:rPr>
              <a:t>:</a:t>
            </a:r>
            <a:endParaRPr b="1" sz="13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 MAG assembly &amp; binning</a:t>
            </a:r>
            <a:endParaRPr sz="12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 Sub-species variation</a:t>
            </a:r>
            <a:endParaRPr sz="12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 Functional potential </a:t>
            </a:r>
            <a:endParaRPr sz="12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000">
                <a:solidFill>
                  <a:srgbClr val="666666"/>
                </a:solidFill>
                <a:latin typeface="JetBrains Mono"/>
                <a:ea typeface="JetBrains Mono"/>
                <a:cs typeface="JetBrains Mono"/>
                <a:sym typeface="JetBrains Mono"/>
              </a:rPr>
              <a:t>(HMO genes)</a:t>
            </a:r>
            <a:endParaRPr sz="1000">
              <a:solidFill>
                <a:srgbClr val="666666"/>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 Vertical transmission </a:t>
            </a:r>
            <a:r>
              <a:rPr lang="en" sz="1000">
                <a:solidFill>
                  <a:srgbClr val="666666"/>
                </a:solidFill>
                <a:latin typeface="JetBrains Mono"/>
                <a:ea typeface="JetBrains Mono"/>
                <a:cs typeface="JetBrains Mono"/>
                <a:sym typeface="JetBrains Mono"/>
              </a:rPr>
              <a:t>(inStrain)</a:t>
            </a:r>
            <a:endParaRPr sz="1000">
              <a:solidFill>
                <a:srgbClr val="666666"/>
              </a:solidFill>
              <a:latin typeface="JetBrains Mono"/>
              <a:ea typeface="JetBrains Mono"/>
              <a:cs typeface="JetBrains Mono"/>
              <a:sym typeface="JetBrains Mono"/>
            </a:endParaRPr>
          </a:p>
        </p:txBody>
      </p:sp>
      <p:sp>
        <p:nvSpPr>
          <p:cNvPr id="130" name="Google Shape;130;p18"/>
          <p:cNvSpPr/>
          <p:nvPr/>
        </p:nvSpPr>
        <p:spPr>
          <a:xfrm rot="5400000">
            <a:off x="4401525" y="397350"/>
            <a:ext cx="351600" cy="915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8"/>
          <p:cNvSpPr txBox="1"/>
          <p:nvPr/>
        </p:nvSpPr>
        <p:spPr>
          <a:xfrm>
            <a:off x="3878650" y="4759350"/>
            <a:ext cx="526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JetBrains Mono"/>
                <a:ea typeface="JetBrains Mono"/>
                <a:cs typeface="JetBrains Mono"/>
                <a:sym typeface="JetBrains Mono"/>
              </a:rPr>
              <a:t>Olm et al., Science 376, 1220-1223 (2022)</a:t>
            </a:r>
            <a:endParaRPr sz="1600">
              <a:solidFill>
                <a:schemeClr val="lt2"/>
              </a:solidFill>
              <a:latin typeface="JetBrains Mono"/>
              <a:ea typeface="JetBrains Mono"/>
              <a:cs typeface="JetBrains Mono"/>
              <a:sym typeface="JetBrains Mono"/>
            </a:endParaRPr>
          </a:p>
        </p:txBody>
      </p:sp>
      <p:sp>
        <p:nvSpPr>
          <p:cNvPr id="132" name="Google Shape;132;p18"/>
          <p:cNvSpPr txBox="1"/>
          <p:nvPr/>
        </p:nvSpPr>
        <p:spPr>
          <a:xfrm>
            <a:off x="6173736" y="1161700"/>
            <a:ext cx="2753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351C75"/>
                </a:solidFill>
                <a:latin typeface="JetBrains Mono ExtraBold"/>
                <a:ea typeface="JetBrains Mono ExtraBold"/>
                <a:cs typeface="JetBrains Mono ExtraBold"/>
                <a:sym typeface="JetBrains Mono ExtraBold"/>
              </a:rPr>
              <a:t>3 lifestyle categories</a:t>
            </a:r>
            <a:endParaRPr sz="1500">
              <a:solidFill>
                <a:srgbClr val="351C75"/>
              </a:solidFill>
              <a:latin typeface="JetBrains Mono ExtraBold"/>
              <a:ea typeface="JetBrains Mono ExtraBold"/>
              <a:cs typeface="JetBrains Mono ExtraBold"/>
              <a:sym typeface="JetBrains Mono ExtraBold"/>
            </a:endParaRPr>
          </a:p>
        </p:txBody>
      </p:sp>
      <p:sp>
        <p:nvSpPr>
          <p:cNvPr id="133" name="Google Shape;133;p18"/>
          <p:cNvSpPr txBox="1"/>
          <p:nvPr/>
        </p:nvSpPr>
        <p:spPr>
          <a:xfrm>
            <a:off x="6173738" y="1577203"/>
            <a:ext cx="2753400" cy="249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rgbClr val="CC0000"/>
                </a:solidFill>
                <a:latin typeface="JetBrains Mono"/>
                <a:ea typeface="JetBrains Mono"/>
                <a:cs typeface="JetBrains Mono"/>
                <a:sym typeface="JetBrains Mono"/>
              </a:rPr>
              <a:t>Non-industrialized</a:t>
            </a:r>
            <a:endParaRPr b="1" sz="1300">
              <a:solidFill>
                <a:srgbClr val="CC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i="1" lang="en" sz="1100">
                <a:solidFill>
                  <a:schemeClr val="dk2"/>
                </a:solidFill>
                <a:latin typeface="JetBrains Mono"/>
                <a:ea typeface="JetBrains Mono"/>
                <a:cs typeface="JetBrains Mono"/>
                <a:sym typeface="JetBrains Mono"/>
              </a:rPr>
              <a:t>Hadza, Bolivia (Tismane)</a:t>
            </a:r>
            <a:endParaRPr i="1" sz="11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b="1" sz="13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b="1" lang="en" sz="1300">
                <a:solidFill>
                  <a:srgbClr val="1155CC"/>
                </a:solidFill>
                <a:latin typeface="JetBrains Mono"/>
                <a:ea typeface="JetBrains Mono"/>
                <a:cs typeface="JetBrains Mono"/>
                <a:sym typeface="JetBrains Mono"/>
              </a:rPr>
              <a:t>Transitional</a:t>
            </a:r>
            <a:endParaRPr b="1" sz="1300">
              <a:solidFill>
                <a:srgbClr val="1155CC"/>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i="1" lang="en" sz="1100">
                <a:solidFill>
                  <a:schemeClr val="dk2"/>
                </a:solidFill>
                <a:latin typeface="JetBrains Mono"/>
                <a:ea typeface="JetBrains Mono"/>
                <a:cs typeface="JetBrains Mono"/>
                <a:sym typeface="JetBrains Mono"/>
              </a:rPr>
              <a:t>Bangladesh, Malawi, Peru, India, Nigeria</a:t>
            </a:r>
            <a:endParaRPr i="1" sz="11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b="1" sz="1300">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b="1" lang="en" sz="1300">
                <a:solidFill>
                  <a:srgbClr val="A64D79"/>
                </a:solidFill>
                <a:latin typeface="JetBrains Mono"/>
                <a:ea typeface="JetBrains Mono"/>
                <a:cs typeface="JetBrains Mono"/>
                <a:sym typeface="JetBrains Mono"/>
              </a:rPr>
              <a:t>Industrialized</a:t>
            </a:r>
            <a:endParaRPr b="1" sz="1300">
              <a:solidFill>
                <a:srgbClr val="A64D79"/>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i="1" lang="en" sz="1100">
                <a:solidFill>
                  <a:schemeClr val="dk2"/>
                </a:solidFill>
                <a:latin typeface="JetBrains Mono"/>
                <a:ea typeface="JetBrains Mono"/>
                <a:cs typeface="JetBrains Mono"/>
                <a:sym typeface="JetBrains Mono"/>
              </a:rPr>
              <a:t>US, Sweden, Finland, Germany, Estonia, Russia</a:t>
            </a:r>
            <a:endParaRPr i="1" sz="1100">
              <a:solidFill>
                <a:schemeClr val="dk2"/>
              </a:solidFill>
              <a:latin typeface="JetBrains Mono"/>
              <a:ea typeface="JetBrains Mono"/>
              <a:cs typeface="JetBrains Mono"/>
              <a:sym typeface="JetBrains Mono"/>
            </a:endParaRPr>
          </a:p>
        </p:txBody>
      </p:sp>
      <p:sp>
        <p:nvSpPr>
          <p:cNvPr id="134" name="Google Shape;134;p18"/>
          <p:cNvSpPr txBox="1"/>
          <p:nvPr/>
        </p:nvSpPr>
        <p:spPr>
          <a:xfrm>
            <a:off x="216850" y="120725"/>
            <a:ext cx="7727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2"/>
                </a:solidFill>
                <a:latin typeface="JetBrains Mono"/>
                <a:ea typeface="JetBrains Mono"/>
                <a:cs typeface="JetBrains Mono"/>
                <a:sym typeface="JetBrains Mono"/>
              </a:rPr>
              <a:t>Experimental Design</a:t>
            </a:r>
            <a:endParaRPr b="1" sz="2400">
              <a:solidFill>
                <a:schemeClr val="dk2"/>
              </a:solidFill>
              <a:latin typeface="JetBrains Mono"/>
              <a:ea typeface="JetBrains Mono"/>
              <a:cs typeface="JetBrains Mono"/>
              <a:sym typeface="JetBrains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nvSpPr>
        <p:spPr>
          <a:xfrm>
            <a:off x="216850" y="120725"/>
            <a:ext cx="7727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2"/>
                </a:solidFill>
                <a:latin typeface="JetBrains Mono"/>
                <a:ea typeface="JetBrains Mono"/>
                <a:cs typeface="JetBrains Mono"/>
                <a:sym typeface="JetBrains Mono"/>
              </a:rPr>
              <a:t>Key Methods</a:t>
            </a:r>
            <a:endParaRPr b="1" sz="2400">
              <a:solidFill>
                <a:schemeClr val="dk2"/>
              </a:solidFill>
              <a:latin typeface="JetBrains Mono"/>
              <a:ea typeface="JetBrains Mono"/>
              <a:cs typeface="JetBrains Mono"/>
              <a:sym typeface="JetBrains Mono"/>
            </a:endParaRPr>
          </a:p>
        </p:txBody>
      </p:sp>
      <p:sp>
        <p:nvSpPr>
          <p:cNvPr id="140" name="Google Shape;140;p19"/>
          <p:cNvSpPr/>
          <p:nvPr/>
        </p:nvSpPr>
        <p:spPr>
          <a:xfrm>
            <a:off x="399293" y="783275"/>
            <a:ext cx="4040100" cy="17556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9"/>
          <p:cNvSpPr/>
          <p:nvPr/>
        </p:nvSpPr>
        <p:spPr>
          <a:xfrm>
            <a:off x="4876996" y="783275"/>
            <a:ext cx="4040100" cy="17556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9"/>
          <p:cNvSpPr/>
          <p:nvPr/>
        </p:nvSpPr>
        <p:spPr>
          <a:xfrm>
            <a:off x="226900" y="783275"/>
            <a:ext cx="172500" cy="1755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9"/>
          <p:cNvSpPr/>
          <p:nvPr/>
        </p:nvSpPr>
        <p:spPr>
          <a:xfrm>
            <a:off x="4704603" y="783275"/>
            <a:ext cx="172500" cy="1755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9"/>
          <p:cNvSpPr txBox="1"/>
          <p:nvPr/>
        </p:nvSpPr>
        <p:spPr>
          <a:xfrm>
            <a:off x="406600" y="783275"/>
            <a:ext cx="3652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accent5"/>
                </a:solidFill>
                <a:latin typeface="JetBrains Mono ExtraBold"/>
                <a:ea typeface="JetBrains Mono ExtraBold"/>
                <a:cs typeface="JetBrains Mono ExtraBold"/>
                <a:sym typeface="JetBrains Mono ExtraBold"/>
              </a:rPr>
              <a:t>Amplicon </a:t>
            </a:r>
            <a:r>
              <a:rPr lang="en" sz="1700">
                <a:solidFill>
                  <a:schemeClr val="accent5"/>
                </a:solidFill>
                <a:latin typeface="JetBrains Mono ExtraBold"/>
                <a:ea typeface="JetBrains Mono ExtraBold"/>
                <a:cs typeface="JetBrains Mono ExtraBold"/>
                <a:sym typeface="JetBrains Mono ExtraBold"/>
              </a:rPr>
              <a:t>Sequencing</a:t>
            </a:r>
            <a:endParaRPr sz="1700">
              <a:solidFill>
                <a:schemeClr val="accent5"/>
              </a:solidFill>
              <a:latin typeface="JetBrains Mono ExtraBold"/>
              <a:ea typeface="JetBrains Mono ExtraBold"/>
              <a:cs typeface="JetBrains Mono ExtraBold"/>
              <a:sym typeface="JetBrains Mono ExtraBold"/>
            </a:endParaRPr>
          </a:p>
        </p:txBody>
      </p:sp>
      <p:sp>
        <p:nvSpPr>
          <p:cNvPr id="145" name="Google Shape;145;p19"/>
          <p:cNvSpPr txBox="1"/>
          <p:nvPr/>
        </p:nvSpPr>
        <p:spPr>
          <a:xfrm>
            <a:off x="4877100" y="783277"/>
            <a:ext cx="3384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accent4"/>
                </a:solidFill>
                <a:latin typeface="JetBrains Mono ExtraBold"/>
                <a:ea typeface="JetBrains Mono ExtraBold"/>
                <a:cs typeface="JetBrains Mono ExtraBold"/>
                <a:sym typeface="JetBrains Mono ExtraBold"/>
              </a:rPr>
              <a:t>Metagenome Assembly</a:t>
            </a:r>
            <a:endParaRPr sz="1700">
              <a:solidFill>
                <a:schemeClr val="accent4"/>
              </a:solidFill>
              <a:latin typeface="JetBrains Mono ExtraBold"/>
              <a:ea typeface="JetBrains Mono ExtraBold"/>
              <a:cs typeface="JetBrains Mono ExtraBold"/>
              <a:sym typeface="JetBrains Mono ExtraBold"/>
            </a:endParaRPr>
          </a:p>
        </p:txBody>
      </p:sp>
      <p:sp>
        <p:nvSpPr>
          <p:cNvPr id="146" name="Google Shape;146;p19"/>
          <p:cNvSpPr txBox="1"/>
          <p:nvPr/>
        </p:nvSpPr>
        <p:spPr>
          <a:xfrm>
            <a:off x="407600" y="1188875"/>
            <a:ext cx="4040100" cy="137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- 16S rRNA gene sequencing (V4)</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UniFrac dissimilarity</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Co-abundance group (CAG) analysis</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Global meta-analysis of 18 populations</a:t>
            </a:r>
            <a:endParaRPr>
              <a:solidFill>
                <a:schemeClr val="dk2"/>
              </a:solidFill>
              <a:latin typeface="JetBrains Mono"/>
              <a:ea typeface="JetBrains Mono"/>
              <a:cs typeface="JetBrains Mono"/>
              <a:sym typeface="JetBrains Mono"/>
            </a:endParaRPr>
          </a:p>
        </p:txBody>
      </p:sp>
      <p:sp>
        <p:nvSpPr>
          <p:cNvPr id="147" name="Google Shape;147;p19"/>
          <p:cNvSpPr txBox="1"/>
          <p:nvPr/>
        </p:nvSpPr>
        <p:spPr>
          <a:xfrm>
            <a:off x="4877099" y="1161875"/>
            <a:ext cx="4040100" cy="137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Deep shotgun metagenomics on Hadza samples</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MAG binning -&gt; 745 species </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Integrated w/ UHGG &amp; adult genomes</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- 5,755 species-rep. genome database</a:t>
            </a:r>
            <a:endParaRPr>
              <a:solidFill>
                <a:schemeClr val="dk2"/>
              </a:solidFill>
              <a:latin typeface="JetBrains Mono"/>
              <a:ea typeface="JetBrains Mono"/>
              <a:cs typeface="JetBrains Mono"/>
              <a:sym typeface="JetBrains Mono"/>
            </a:endParaRPr>
          </a:p>
        </p:txBody>
      </p:sp>
      <p:sp>
        <p:nvSpPr>
          <p:cNvPr id="148" name="Google Shape;148;p19"/>
          <p:cNvSpPr/>
          <p:nvPr/>
        </p:nvSpPr>
        <p:spPr>
          <a:xfrm>
            <a:off x="399293" y="2820500"/>
            <a:ext cx="4040100" cy="17556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9"/>
          <p:cNvSpPr/>
          <p:nvPr/>
        </p:nvSpPr>
        <p:spPr>
          <a:xfrm>
            <a:off x="4876996" y="2820500"/>
            <a:ext cx="4040100" cy="17556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9"/>
          <p:cNvSpPr/>
          <p:nvPr/>
        </p:nvSpPr>
        <p:spPr>
          <a:xfrm>
            <a:off x="226900" y="2820500"/>
            <a:ext cx="172500" cy="17556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9"/>
          <p:cNvSpPr/>
          <p:nvPr/>
        </p:nvSpPr>
        <p:spPr>
          <a:xfrm>
            <a:off x="4704603" y="2820500"/>
            <a:ext cx="172500" cy="1755600"/>
          </a:xfrm>
          <a:prstGeom prst="rect">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9"/>
          <p:cNvSpPr txBox="1"/>
          <p:nvPr/>
        </p:nvSpPr>
        <p:spPr>
          <a:xfrm>
            <a:off x="406600" y="2809038"/>
            <a:ext cx="3823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351C75"/>
                </a:solidFill>
                <a:latin typeface="JetBrains Mono ExtraBold"/>
                <a:ea typeface="JetBrains Mono ExtraBold"/>
                <a:cs typeface="JetBrains Mono ExtraBold"/>
                <a:sym typeface="JetBrains Mono ExtraBold"/>
              </a:rPr>
              <a:t>Functional &amp; Strain Analysis</a:t>
            </a:r>
            <a:endParaRPr sz="1700">
              <a:solidFill>
                <a:srgbClr val="351C75"/>
              </a:solidFill>
              <a:latin typeface="JetBrains Mono ExtraBold"/>
              <a:ea typeface="JetBrains Mono ExtraBold"/>
              <a:cs typeface="JetBrains Mono ExtraBold"/>
              <a:sym typeface="JetBrains Mono ExtraBold"/>
            </a:endParaRPr>
          </a:p>
        </p:txBody>
      </p:sp>
      <p:sp>
        <p:nvSpPr>
          <p:cNvPr id="153" name="Google Shape;153;p19"/>
          <p:cNvSpPr txBox="1"/>
          <p:nvPr/>
        </p:nvSpPr>
        <p:spPr>
          <a:xfrm>
            <a:off x="4877100" y="2809052"/>
            <a:ext cx="3384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38761D"/>
                </a:solidFill>
                <a:latin typeface="JetBrains Mono ExtraBold"/>
                <a:ea typeface="JetBrains Mono ExtraBold"/>
                <a:cs typeface="JetBrains Mono ExtraBold"/>
                <a:sym typeface="JetBrains Mono ExtraBold"/>
              </a:rPr>
              <a:t>Statistical Methods</a:t>
            </a:r>
            <a:endParaRPr sz="1700">
              <a:solidFill>
                <a:srgbClr val="38761D"/>
              </a:solidFill>
              <a:latin typeface="JetBrains Mono ExtraBold"/>
              <a:ea typeface="JetBrains Mono ExtraBold"/>
              <a:cs typeface="JetBrains Mono ExtraBold"/>
              <a:sym typeface="JetBrains Mono ExtraBold"/>
            </a:endParaRPr>
          </a:p>
        </p:txBody>
      </p:sp>
      <p:sp>
        <p:nvSpPr>
          <p:cNvPr id="154" name="Google Shape;154;p19"/>
          <p:cNvSpPr/>
          <p:nvPr/>
        </p:nvSpPr>
        <p:spPr>
          <a:xfrm rot="5400000">
            <a:off x="4401525" y="397350"/>
            <a:ext cx="351600" cy="915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9"/>
          <p:cNvSpPr txBox="1"/>
          <p:nvPr/>
        </p:nvSpPr>
        <p:spPr>
          <a:xfrm>
            <a:off x="3878650" y="4759350"/>
            <a:ext cx="526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JetBrains Mono"/>
                <a:ea typeface="JetBrains Mono"/>
                <a:cs typeface="JetBrains Mono"/>
                <a:sym typeface="JetBrains Mono"/>
              </a:rPr>
              <a:t>Olm et al., Science 376, 1220-1223 (2022)</a:t>
            </a:r>
            <a:endParaRPr sz="1600">
              <a:solidFill>
                <a:schemeClr val="lt2"/>
              </a:solidFill>
              <a:latin typeface="JetBrains Mono"/>
              <a:ea typeface="JetBrains Mono"/>
              <a:cs typeface="JetBrains Mono"/>
              <a:sym typeface="JetBrains Mono"/>
            </a:endParaRPr>
          </a:p>
        </p:txBody>
      </p:sp>
      <p:sp>
        <p:nvSpPr>
          <p:cNvPr id="156" name="Google Shape;156;p19"/>
          <p:cNvSpPr txBox="1"/>
          <p:nvPr/>
        </p:nvSpPr>
        <p:spPr>
          <a:xfrm>
            <a:off x="399300" y="3199100"/>
            <a:ext cx="4040100" cy="137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HMO-utilization gene cluster mapping</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a:t>
            </a:r>
            <a:r>
              <a:rPr i="1" lang="en">
                <a:solidFill>
                  <a:schemeClr val="dk2"/>
                </a:solidFill>
                <a:latin typeface="JetBrains Mono"/>
                <a:ea typeface="JetBrains Mono"/>
                <a:cs typeface="JetBrains Mono"/>
                <a:sym typeface="JetBrains Mono"/>
              </a:rPr>
              <a:t>B. infantis</a:t>
            </a:r>
            <a:r>
              <a:rPr lang="en">
                <a:solidFill>
                  <a:schemeClr val="dk2"/>
                </a:solidFill>
                <a:latin typeface="JetBrains Mono"/>
                <a:ea typeface="JetBrains Mono"/>
                <a:cs typeface="JetBrains Mono"/>
                <a:sym typeface="JetBrains Mono"/>
              </a:rPr>
              <a:t> strain-level phylo.</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inStrain strain tracking</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- 20 </a:t>
            </a:r>
            <a:r>
              <a:rPr i="1" lang="en">
                <a:solidFill>
                  <a:schemeClr val="dk2"/>
                </a:solidFill>
                <a:latin typeface="JetBrains Mono"/>
                <a:ea typeface="JetBrains Mono"/>
                <a:cs typeface="JetBrains Mono"/>
                <a:sym typeface="JetBrains Mono"/>
              </a:rPr>
              <a:t>B. infantis</a:t>
            </a:r>
            <a:r>
              <a:rPr lang="en">
                <a:solidFill>
                  <a:schemeClr val="dk2"/>
                </a:solidFill>
                <a:latin typeface="JetBrains Mono"/>
                <a:ea typeface="JetBrains Mono"/>
                <a:cs typeface="JetBrains Mono"/>
                <a:sym typeface="JetBrains Mono"/>
              </a:rPr>
              <a:t> isolates</a:t>
            </a:r>
            <a:endParaRPr>
              <a:solidFill>
                <a:schemeClr val="dk2"/>
              </a:solidFill>
              <a:latin typeface="JetBrains Mono"/>
              <a:ea typeface="JetBrains Mono"/>
              <a:cs typeface="JetBrains Mono"/>
              <a:sym typeface="JetBrains Mono"/>
            </a:endParaRPr>
          </a:p>
        </p:txBody>
      </p:sp>
      <p:sp>
        <p:nvSpPr>
          <p:cNvPr id="157" name="Google Shape;157;p19"/>
          <p:cNvSpPr txBox="1"/>
          <p:nvPr/>
        </p:nvSpPr>
        <p:spPr>
          <a:xfrm>
            <a:off x="4877100" y="3199100"/>
            <a:ext cx="4040100" cy="137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EnvFit for ordination axis assoc.</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Wilcoxon tests for comparisons</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Fisher’s exact test w/ FDR</a:t>
            </a:r>
            <a:endParaRPr>
              <a:solidFill>
                <a:schemeClr val="dk2"/>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2"/>
                </a:solidFill>
                <a:latin typeface="JetBrains Mono"/>
                <a:ea typeface="JetBrains Mono"/>
                <a:cs typeface="JetBrains Mono"/>
                <a:sym typeface="JetBrains Mono"/>
              </a:rPr>
              <a:t>- </a:t>
            </a:r>
            <a:r>
              <a:rPr i="1" lang="en">
                <a:solidFill>
                  <a:schemeClr val="dk2"/>
                </a:solidFill>
                <a:latin typeface="JetBrains Mono"/>
                <a:ea typeface="JetBrains Mono"/>
                <a:cs typeface="JetBrains Mono"/>
                <a:sym typeface="JetBrains Mono"/>
              </a:rPr>
              <a:t>in silico</a:t>
            </a:r>
            <a:r>
              <a:rPr lang="en">
                <a:solidFill>
                  <a:schemeClr val="dk2"/>
                </a:solidFill>
                <a:latin typeface="JetBrains Mono"/>
                <a:ea typeface="JetBrains Mono"/>
                <a:cs typeface="JetBrains Mono"/>
                <a:sym typeface="JetBrains Mono"/>
              </a:rPr>
              <a:t> rarefaction for depth normalization</a:t>
            </a:r>
            <a:endParaRPr>
              <a:solidFill>
                <a:schemeClr val="dk2"/>
              </a:solidFill>
              <a:latin typeface="JetBrains Mono"/>
              <a:ea typeface="JetBrains Mono"/>
              <a:cs typeface="JetBrains Mono"/>
              <a:sym typeface="JetBrains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0"/>
          <p:cNvSpPr/>
          <p:nvPr/>
        </p:nvSpPr>
        <p:spPr>
          <a:xfrm rot="5400000">
            <a:off x="2497900" y="-2322825"/>
            <a:ext cx="653100" cy="565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0"/>
          <p:cNvSpPr txBox="1"/>
          <p:nvPr>
            <p:ph type="title"/>
          </p:nvPr>
        </p:nvSpPr>
        <p:spPr>
          <a:xfrm>
            <a:off x="34096" y="173775"/>
            <a:ext cx="5580600" cy="6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20">
                <a:solidFill>
                  <a:schemeClr val="lt1"/>
                </a:solidFill>
                <a:latin typeface="JetBrains Mono"/>
                <a:ea typeface="JetBrains Mono"/>
                <a:cs typeface="JetBrains Mono"/>
                <a:sym typeface="JetBrains Mono"/>
              </a:rPr>
              <a:t>Figure 1: </a:t>
            </a:r>
            <a:r>
              <a:rPr lang="en" sz="1620">
                <a:solidFill>
                  <a:schemeClr val="lt1"/>
                </a:solidFill>
                <a:latin typeface="JetBrains Mono"/>
                <a:ea typeface="JetBrains Mono"/>
                <a:cs typeface="JetBrains Mono"/>
                <a:sym typeface="JetBrains Mono"/>
              </a:rPr>
              <a:t>Age and lifestyle are associated with infant microbiome composition</a:t>
            </a:r>
            <a:endParaRPr sz="1620">
              <a:solidFill>
                <a:schemeClr val="lt1"/>
              </a:solidFill>
              <a:latin typeface="JetBrains Mono"/>
              <a:ea typeface="JetBrains Mono"/>
              <a:cs typeface="JetBrains Mono"/>
              <a:sym typeface="JetBrains Mono"/>
            </a:endParaRPr>
          </a:p>
        </p:txBody>
      </p:sp>
      <p:sp>
        <p:nvSpPr>
          <p:cNvPr id="164" name="Google Shape;164;p20"/>
          <p:cNvSpPr txBox="1"/>
          <p:nvPr>
            <p:ph idx="1" type="body"/>
          </p:nvPr>
        </p:nvSpPr>
        <p:spPr>
          <a:xfrm>
            <a:off x="7243150" y="1186188"/>
            <a:ext cx="1739400" cy="35055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sz="1100">
                <a:solidFill>
                  <a:schemeClr val="dk1"/>
                </a:solidFill>
                <a:latin typeface="JetBrains Mono"/>
                <a:ea typeface="JetBrains Mono"/>
                <a:cs typeface="JetBrains Mono"/>
                <a:sym typeface="JetBrains Mono"/>
              </a:rPr>
              <a:t>(A)</a:t>
            </a:r>
            <a:r>
              <a:rPr lang="en" sz="1100">
                <a:solidFill>
                  <a:schemeClr val="dk1"/>
                </a:solidFill>
                <a:latin typeface="JetBrains Mono"/>
                <a:ea typeface="JetBrains Mono"/>
                <a:cs typeface="JetBrains Mono"/>
                <a:sym typeface="JetBrains Mono"/>
              </a:rPr>
              <a:t> Unweighted UniFrac dissimilarity Principal Coordinates Analysis (PCoA) (top left panel) of 1900 fecal samples from infants (&lt;3 years old) across 18 populations based on amplicon sequence variant abundance.</a:t>
            </a:r>
            <a:endParaRPr sz="1100">
              <a:solidFill>
                <a:schemeClr val="dk1"/>
              </a:solidFill>
              <a:latin typeface="JetBrains Mono"/>
              <a:ea typeface="JetBrains Mono"/>
              <a:cs typeface="JetBrains Mono"/>
              <a:sym typeface="JetBrains Mono"/>
            </a:endParaRPr>
          </a:p>
          <a:p>
            <a:pPr indent="0" lvl="0" marL="0" rtl="0" algn="l">
              <a:spcBef>
                <a:spcPts val="1200"/>
              </a:spcBef>
              <a:spcAft>
                <a:spcPts val="1200"/>
              </a:spcAft>
              <a:buNone/>
            </a:pPr>
            <a:r>
              <a:rPr lang="en" sz="1100">
                <a:solidFill>
                  <a:schemeClr val="dk1"/>
                </a:solidFill>
                <a:latin typeface="JetBrains Mono"/>
                <a:ea typeface="JetBrains Mono"/>
                <a:cs typeface="JetBrains Mono"/>
                <a:sym typeface="JetBrains Mono"/>
              </a:rPr>
              <a:t>Point color indicates lifestyle and point size is proportional to age in months. Boxplots show the distribution of indicated age groups along PCo1 (bottom) and cohorts along PCo2 (right).</a:t>
            </a:r>
            <a:endParaRPr>
              <a:latin typeface="JetBrains Mono"/>
              <a:ea typeface="JetBrains Mono"/>
              <a:cs typeface="JetBrains Mono"/>
              <a:sym typeface="JetBrains Mono"/>
            </a:endParaRPr>
          </a:p>
        </p:txBody>
      </p:sp>
      <p:pic>
        <p:nvPicPr>
          <p:cNvPr id="165" name="Google Shape;165;p20" title="Screenshot 2026-02-10 at 9.24.38 AM.png"/>
          <p:cNvPicPr preferRelativeResize="0"/>
          <p:nvPr/>
        </p:nvPicPr>
        <p:blipFill>
          <a:blip r:embed="rId3">
            <a:alphaModFix/>
          </a:blip>
          <a:stretch>
            <a:fillRect/>
          </a:stretch>
        </p:blipFill>
        <p:spPr>
          <a:xfrm>
            <a:off x="98050" y="992475"/>
            <a:ext cx="6823099" cy="3892934"/>
          </a:xfrm>
          <a:prstGeom prst="rect">
            <a:avLst/>
          </a:prstGeom>
          <a:noFill/>
          <a:ln>
            <a:noFill/>
          </a:ln>
        </p:spPr>
      </p:pic>
      <p:sp>
        <p:nvSpPr>
          <p:cNvPr id="166" name="Google Shape;166;p20"/>
          <p:cNvSpPr/>
          <p:nvPr/>
        </p:nvSpPr>
        <p:spPr>
          <a:xfrm>
            <a:off x="6858835" y="180381"/>
            <a:ext cx="13377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167" name="Google Shape;167;p20"/>
          <p:cNvSpPr/>
          <p:nvPr/>
        </p:nvSpPr>
        <p:spPr>
          <a:xfrm rot="5400000">
            <a:off x="6217585" y="-249969"/>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168" name="Google Shape;168;p20"/>
          <p:cNvSpPr txBox="1"/>
          <p:nvPr/>
        </p:nvSpPr>
        <p:spPr>
          <a:xfrm>
            <a:off x="5654189" y="190093"/>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1A/1B</a:t>
            </a:r>
            <a:endParaRPr sz="1105">
              <a:solidFill>
                <a:schemeClr val="lt1"/>
              </a:solidFill>
              <a:latin typeface="JetBrains Mono ExtraBold"/>
              <a:ea typeface="JetBrains Mono ExtraBold"/>
              <a:cs typeface="JetBrains Mono ExtraBold"/>
              <a:sym typeface="JetBrains Mono ExtraBold"/>
            </a:endParaRPr>
          </a:p>
        </p:txBody>
      </p:sp>
      <p:sp>
        <p:nvSpPr>
          <p:cNvPr id="169" name="Google Shape;169;p20"/>
          <p:cNvSpPr txBox="1"/>
          <p:nvPr/>
        </p:nvSpPr>
        <p:spPr>
          <a:xfrm>
            <a:off x="6858835" y="180381"/>
            <a:ext cx="13377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Esther Alorkpa</a:t>
            </a:r>
            <a:endParaRPr sz="1105">
              <a:solidFill>
                <a:srgbClr val="434343"/>
              </a:solidFill>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txBox="1"/>
          <p:nvPr>
            <p:ph idx="1" type="body"/>
          </p:nvPr>
        </p:nvSpPr>
        <p:spPr>
          <a:xfrm>
            <a:off x="152400" y="3650500"/>
            <a:ext cx="8839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900">
                <a:solidFill>
                  <a:schemeClr val="dk1"/>
                </a:solidFill>
                <a:latin typeface="JetBrains Mono"/>
                <a:ea typeface="JetBrains Mono"/>
                <a:cs typeface="JetBrains Mono"/>
                <a:sym typeface="JetBrains Mono"/>
              </a:rPr>
              <a:t>(</a:t>
            </a:r>
            <a:r>
              <a:rPr b="1" lang="en" sz="900">
                <a:solidFill>
                  <a:schemeClr val="dk1"/>
                </a:solidFill>
                <a:latin typeface="JetBrains Mono"/>
                <a:ea typeface="JetBrains Mono"/>
                <a:cs typeface="JetBrains Mono"/>
                <a:sym typeface="JetBrains Mono"/>
              </a:rPr>
              <a:t>B) </a:t>
            </a:r>
            <a:r>
              <a:rPr lang="en" sz="900">
                <a:solidFill>
                  <a:schemeClr val="dk1"/>
                </a:solidFill>
                <a:latin typeface="JetBrains Mono"/>
                <a:ea typeface="JetBrains Mono"/>
                <a:cs typeface="JetBrains Mono"/>
                <a:sym typeface="JetBrains Mono"/>
              </a:rPr>
              <a:t>PCo2 versus sample age for the three lifestyle categories (solid lines) and specific indicated subpopulations (dashed lines). The purple dashed line includes Russia (Karelia) and South Africa [RU (Karelia) + SA] and the green dashed line includes Malawi, Nigeria (Urban), and Bangladesh (MWI + NG + BD). The middle transitional line (blue) contains all transitional samples. Lines are the smoothed conditional mean of PCo2 loadings (loess fit). </a:t>
            </a:r>
            <a:endParaRPr sz="900">
              <a:solidFill>
                <a:schemeClr val="dk1"/>
              </a:solidFill>
              <a:latin typeface="JetBrains Mono"/>
              <a:ea typeface="JetBrains Mono"/>
              <a:cs typeface="JetBrains Mono"/>
              <a:sym typeface="JetBrains Mono"/>
            </a:endParaRPr>
          </a:p>
          <a:p>
            <a:pPr indent="0" lvl="0" marL="0" rtl="0" algn="l">
              <a:spcBef>
                <a:spcPts val="1200"/>
              </a:spcBef>
              <a:spcAft>
                <a:spcPts val="1200"/>
              </a:spcAft>
              <a:buNone/>
            </a:pPr>
            <a:r>
              <a:rPr b="1" lang="en" sz="900">
                <a:solidFill>
                  <a:schemeClr val="dk1"/>
                </a:solidFill>
                <a:latin typeface="JetBrains Mono"/>
                <a:ea typeface="JetBrains Mono"/>
                <a:cs typeface="JetBrains Mono"/>
                <a:sym typeface="JetBrains Mono"/>
              </a:rPr>
              <a:t>(C)</a:t>
            </a:r>
            <a:r>
              <a:rPr lang="en" sz="900">
                <a:solidFill>
                  <a:schemeClr val="dk1"/>
                </a:solidFill>
                <a:latin typeface="JetBrains Mono"/>
                <a:ea typeface="JetBrains Mono"/>
                <a:cs typeface="JetBrains Mono"/>
                <a:sym typeface="JetBrains Mono"/>
              </a:rPr>
              <a:t> Relative abundance of CAGs by age group and lifestyle. Taxa in annotation are the most abundant taxa in a CAG.</a:t>
            </a:r>
            <a:endParaRPr sz="1600">
              <a:latin typeface="JetBrains Mono"/>
              <a:ea typeface="JetBrains Mono"/>
              <a:cs typeface="JetBrains Mono"/>
              <a:sym typeface="JetBrains Mono"/>
            </a:endParaRPr>
          </a:p>
        </p:txBody>
      </p:sp>
      <p:pic>
        <p:nvPicPr>
          <p:cNvPr id="175" name="Google Shape;175;p21" title="Screenshot 2026-02-10 at 9.25.07 AM.png"/>
          <p:cNvPicPr preferRelativeResize="0"/>
          <p:nvPr/>
        </p:nvPicPr>
        <p:blipFill>
          <a:blip r:embed="rId3">
            <a:alphaModFix/>
          </a:blip>
          <a:stretch>
            <a:fillRect/>
          </a:stretch>
        </p:blipFill>
        <p:spPr>
          <a:xfrm>
            <a:off x="152400" y="1221075"/>
            <a:ext cx="8839197" cy="2429423"/>
          </a:xfrm>
          <a:prstGeom prst="rect">
            <a:avLst/>
          </a:prstGeom>
          <a:noFill/>
          <a:ln>
            <a:noFill/>
          </a:ln>
        </p:spPr>
      </p:pic>
      <p:sp>
        <p:nvSpPr>
          <p:cNvPr id="176" name="Google Shape;176;p21"/>
          <p:cNvSpPr/>
          <p:nvPr/>
        </p:nvSpPr>
        <p:spPr>
          <a:xfrm rot="5400000">
            <a:off x="2497900" y="-2322825"/>
            <a:ext cx="653100" cy="565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1"/>
          <p:cNvSpPr txBox="1"/>
          <p:nvPr>
            <p:ph type="title"/>
          </p:nvPr>
        </p:nvSpPr>
        <p:spPr>
          <a:xfrm>
            <a:off x="34096" y="173775"/>
            <a:ext cx="5580600" cy="6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20">
                <a:solidFill>
                  <a:schemeClr val="lt1"/>
                </a:solidFill>
                <a:latin typeface="JetBrains Mono"/>
                <a:ea typeface="JetBrains Mono"/>
                <a:cs typeface="JetBrains Mono"/>
                <a:sym typeface="JetBrains Mono"/>
              </a:rPr>
              <a:t>Figure 1: </a:t>
            </a:r>
            <a:r>
              <a:rPr lang="en" sz="1620">
                <a:solidFill>
                  <a:schemeClr val="lt1"/>
                </a:solidFill>
                <a:latin typeface="JetBrains Mono"/>
                <a:ea typeface="JetBrains Mono"/>
                <a:cs typeface="JetBrains Mono"/>
                <a:sym typeface="JetBrains Mono"/>
              </a:rPr>
              <a:t>Age and lifestyle are associated with infant microbiome composition</a:t>
            </a:r>
            <a:endParaRPr sz="1620">
              <a:solidFill>
                <a:schemeClr val="lt1"/>
              </a:solidFill>
              <a:latin typeface="JetBrains Mono"/>
              <a:ea typeface="JetBrains Mono"/>
              <a:cs typeface="JetBrains Mono"/>
              <a:sym typeface="JetBrains Mono"/>
            </a:endParaRPr>
          </a:p>
        </p:txBody>
      </p:sp>
      <p:sp>
        <p:nvSpPr>
          <p:cNvPr id="178" name="Google Shape;178;p21"/>
          <p:cNvSpPr/>
          <p:nvPr/>
        </p:nvSpPr>
        <p:spPr>
          <a:xfrm>
            <a:off x="6858835" y="180381"/>
            <a:ext cx="13377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179" name="Google Shape;179;p21"/>
          <p:cNvSpPr/>
          <p:nvPr/>
        </p:nvSpPr>
        <p:spPr>
          <a:xfrm rot="5400000">
            <a:off x="6217585" y="-249969"/>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180" name="Google Shape;180;p21"/>
          <p:cNvSpPr txBox="1"/>
          <p:nvPr/>
        </p:nvSpPr>
        <p:spPr>
          <a:xfrm>
            <a:off x="5654189" y="190093"/>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1A/1B</a:t>
            </a:r>
            <a:endParaRPr sz="1105">
              <a:solidFill>
                <a:schemeClr val="lt1"/>
              </a:solidFill>
              <a:latin typeface="JetBrains Mono ExtraBold"/>
              <a:ea typeface="JetBrains Mono ExtraBold"/>
              <a:cs typeface="JetBrains Mono ExtraBold"/>
              <a:sym typeface="JetBrains Mono ExtraBold"/>
            </a:endParaRPr>
          </a:p>
        </p:txBody>
      </p:sp>
      <p:sp>
        <p:nvSpPr>
          <p:cNvPr id="181" name="Google Shape;181;p21"/>
          <p:cNvSpPr txBox="1"/>
          <p:nvPr/>
        </p:nvSpPr>
        <p:spPr>
          <a:xfrm>
            <a:off x="6858835" y="180381"/>
            <a:ext cx="13377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Esther Alorkpa</a:t>
            </a:r>
            <a:endParaRPr sz="1105">
              <a:solidFill>
                <a:srgbClr val="434343"/>
              </a:solidFill>
              <a:latin typeface="JetBrains Mono"/>
              <a:ea typeface="JetBrains Mono"/>
              <a:cs typeface="JetBrains Mono"/>
              <a:sym typeface="JetBrains Mono"/>
            </a:endParaRPr>
          </a:p>
        </p:txBody>
      </p:sp>
      <p:sp>
        <p:nvSpPr>
          <p:cNvPr id="182" name="Google Shape;182;p21"/>
          <p:cNvSpPr/>
          <p:nvPr/>
        </p:nvSpPr>
        <p:spPr>
          <a:xfrm>
            <a:off x="6858835" y="489006"/>
            <a:ext cx="18474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183" name="Google Shape;183;p21"/>
          <p:cNvSpPr/>
          <p:nvPr/>
        </p:nvSpPr>
        <p:spPr>
          <a:xfrm rot="5400000">
            <a:off x="6217585" y="58656"/>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184" name="Google Shape;184;p21"/>
          <p:cNvSpPr txBox="1"/>
          <p:nvPr/>
        </p:nvSpPr>
        <p:spPr>
          <a:xfrm>
            <a:off x="5654189" y="498718"/>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1B/1C</a:t>
            </a:r>
            <a:endParaRPr sz="1105">
              <a:solidFill>
                <a:schemeClr val="lt1"/>
              </a:solidFill>
              <a:latin typeface="JetBrains Mono ExtraBold"/>
              <a:ea typeface="JetBrains Mono ExtraBold"/>
              <a:cs typeface="JetBrains Mono ExtraBold"/>
              <a:sym typeface="JetBrains Mono ExtraBold"/>
            </a:endParaRPr>
          </a:p>
        </p:txBody>
      </p:sp>
      <p:sp>
        <p:nvSpPr>
          <p:cNvPr id="185" name="Google Shape;185;p21"/>
          <p:cNvSpPr txBox="1"/>
          <p:nvPr/>
        </p:nvSpPr>
        <p:spPr>
          <a:xfrm>
            <a:off x="6858835" y="489006"/>
            <a:ext cx="18474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Ghazaleh Aminiershad</a:t>
            </a:r>
            <a:endParaRPr sz="1105">
              <a:solidFill>
                <a:srgbClr val="434343"/>
              </a:solidFill>
              <a:latin typeface="JetBrains Mono"/>
              <a:ea typeface="JetBrains Mono"/>
              <a:cs typeface="JetBrains Mono"/>
              <a:sym typeface="JetBrains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p:nvPr/>
        </p:nvSpPr>
        <p:spPr>
          <a:xfrm rot="5400000">
            <a:off x="2497700" y="-2322825"/>
            <a:ext cx="653100" cy="565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2"/>
          <p:cNvSpPr txBox="1"/>
          <p:nvPr>
            <p:ph type="title"/>
          </p:nvPr>
        </p:nvSpPr>
        <p:spPr>
          <a:xfrm>
            <a:off x="34107" y="173775"/>
            <a:ext cx="5580300" cy="6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20">
                <a:solidFill>
                  <a:schemeClr val="lt1"/>
                </a:solidFill>
                <a:latin typeface="JetBrains Mono"/>
                <a:ea typeface="JetBrains Mono"/>
                <a:cs typeface="JetBrains Mono"/>
                <a:sym typeface="JetBrains Mono"/>
              </a:rPr>
              <a:t>Figure 2: </a:t>
            </a:r>
            <a:r>
              <a:rPr lang="en" sz="1620">
                <a:solidFill>
                  <a:schemeClr val="lt1"/>
                </a:solidFill>
                <a:latin typeface="JetBrains Mono"/>
                <a:ea typeface="JetBrains Mono"/>
                <a:cs typeface="JetBrains Mono"/>
                <a:sym typeface="JetBrains Mono"/>
              </a:rPr>
              <a:t>Age and lifestyle are associated with infant microbiome functions</a:t>
            </a:r>
            <a:endParaRPr sz="1620">
              <a:solidFill>
                <a:schemeClr val="lt1"/>
              </a:solidFill>
              <a:latin typeface="JetBrains Mono"/>
              <a:ea typeface="JetBrains Mono"/>
              <a:cs typeface="JetBrains Mono"/>
              <a:sym typeface="JetBrains Mono"/>
            </a:endParaRPr>
          </a:p>
        </p:txBody>
      </p:sp>
      <p:sp>
        <p:nvSpPr>
          <p:cNvPr id="192" name="Google Shape;192;p22"/>
          <p:cNvSpPr txBox="1"/>
          <p:nvPr>
            <p:ph idx="1" type="body"/>
          </p:nvPr>
        </p:nvSpPr>
        <p:spPr>
          <a:xfrm>
            <a:off x="4832825" y="3349825"/>
            <a:ext cx="4210200" cy="17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650">
                <a:solidFill>
                  <a:schemeClr val="dk1"/>
                </a:solidFill>
                <a:latin typeface="JetBrains Mono"/>
                <a:ea typeface="JetBrains Mono"/>
                <a:cs typeface="JetBrains Mono"/>
                <a:sym typeface="JetBrains Mono"/>
              </a:rPr>
              <a:t>(A) </a:t>
            </a:r>
            <a:r>
              <a:rPr lang="en" sz="650">
                <a:solidFill>
                  <a:schemeClr val="dk1"/>
                </a:solidFill>
                <a:latin typeface="JetBrains Mono"/>
                <a:ea typeface="JetBrains Mono"/>
                <a:cs typeface="JetBrains Mono"/>
                <a:sym typeface="JetBrains Mono"/>
              </a:rPr>
              <a:t>PCoA on the basis of on 682 infant fecal metagenomes described at the gene abundance level in reads per kilobase million (RPKM). Points are colored by lifestyle and point size indicates infant age in months. Boxplots (bottom) show the distribution of indicated age groups in months along PCo1. Boxplots (right) show the distribution of each lifestyle along PCo2. The main axis of variation in this gene-based ordination is significantly associated with age (EnvFit; </a:t>
            </a:r>
            <a:r>
              <a:rPr i="1" lang="en" sz="650">
                <a:solidFill>
                  <a:schemeClr val="dk1"/>
                </a:solidFill>
                <a:latin typeface="JetBrains Mono"/>
                <a:ea typeface="JetBrains Mono"/>
                <a:cs typeface="JetBrains Mono"/>
                <a:sym typeface="JetBrains Mono"/>
              </a:rPr>
              <a:t>R</a:t>
            </a:r>
            <a:r>
              <a:rPr baseline="30000" lang="en" sz="650">
                <a:solidFill>
                  <a:schemeClr val="dk1"/>
                </a:solidFill>
                <a:latin typeface="JetBrains Mono"/>
                <a:ea typeface="JetBrains Mono"/>
                <a:cs typeface="JetBrains Mono"/>
                <a:sym typeface="JetBrains Mono"/>
              </a:rPr>
              <a:t>2</a:t>
            </a:r>
            <a:r>
              <a:rPr lang="en" sz="650">
                <a:solidFill>
                  <a:schemeClr val="dk1"/>
                </a:solidFill>
                <a:latin typeface="JetBrains Mono"/>
                <a:ea typeface="JetBrains Mono"/>
                <a:cs typeface="JetBrains Mono"/>
                <a:sym typeface="JetBrains Mono"/>
              </a:rPr>
              <a:t> = 0.30; </a:t>
            </a:r>
            <a:r>
              <a:rPr i="1" lang="en" sz="650">
                <a:solidFill>
                  <a:schemeClr val="dk1"/>
                </a:solidFill>
                <a:latin typeface="JetBrains Mono"/>
                <a:ea typeface="JetBrains Mono"/>
                <a:cs typeface="JetBrains Mono"/>
                <a:sym typeface="JetBrains Mono"/>
              </a:rPr>
              <a:t>n</a:t>
            </a:r>
            <a:r>
              <a:rPr lang="en" sz="650">
                <a:solidFill>
                  <a:schemeClr val="dk1"/>
                </a:solidFill>
                <a:latin typeface="JetBrains Mono"/>
                <a:ea typeface="JetBrains Mono"/>
                <a:cs typeface="JetBrains Mono"/>
                <a:sym typeface="JetBrains Mono"/>
              </a:rPr>
              <a:t> = 679; </a:t>
            </a:r>
            <a:r>
              <a:rPr i="1" lang="en" sz="650">
                <a:solidFill>
                  <a:schemeClr val="dk1"/>
                </a:solidFill>
                <a:latin typeface="JetBrains Mono"/>
                <a:ea typeface="JetBrains Mono"/>
                <a:cs typeface="JetBrains Mono"/>
                <a:sym typeface="JetBrains Mono"/>
              </a:rPr>
              <a:t>P</a:t>
            </a:r>
            <a:r>
              <a:rPr lang="en" sz="650">
                <a:solidFill>
                  <a:schemeClr val="dk1"/>
                </a:solidFill>
                <a:latin typeface="JetBrains Mono"/>
                <a:ea typeface="JetBrains Mono"/>
                <a:cs typeface="JetBrains Mono"/>
                <a:sym typeface="JetBrains Mono"/>
              </a:rPr>
              <a:t> = 0.001) and the second axis of variation is significantly associated with lifestyle (EnvFit; </a:t>
            </a:r>
            <a:r>
              <a:rPr i="1" lang="en" sz="650">
                <a:solidFill>
                  <a:schemeClr val="dk1"/>
                </a:solidFill>
                <a:latin typeface="JetBrains Mono"/>
                <a:ea typeface="JetBrains Mono"/>
                <a:cs typeface="JetBrains Mono"/>
                <a:sym typeface="JetBrains Mono"/>
              </a:rPr>
              <a:t>R</a:t>
            </a:r>
            <a:r>
              <a:rPr baseline="30000" lang="en" sz="650">
                <a:solidFill>
                  <a:schemeClr val="dk1"/>
                </a:solidFill>
                <a:latin typeface="JetBrains Mono"/>
                <a:ea typeface="JetBrains Mono"/>
                <a:cs typeface="JetBrains Mono"/>
                <a:sym typeface="JetBrains Mono"/>
              </a:rPr>
              <a:t>2</a:t>
            </a:r>
            <a:r>
              <a:rPr lang="en" sz="650">
                <a:solidFill>
                  <a:schemeClr val="dk1"/>
                </a:solidFill>
                <a:latin typeface="JetBrains Mono"/>
                <a:ea typeface="JetBrains Mono"/>
                <a:cs typeface="JetBrains Mono"/>
                <a:sym typeface="JetBrains Mono"/>
              </a:rPr>
              <a:t> = 0.35; </a:t>
            </a:r>
            <a:r>
              <a:rPr i="1" lang="en" sz="650">
                <a:solidFill>
                  <a:schemeClr val="dk1"/>
                </a:solidFill>
                <a:latin typeface="JetBrains Mono"/>
                <a:ea typeface="JetBrains Mono"/>
                <a:cs typeface="JetBrains Mono"/>
                <a:sym typeface="JetBrains Mono"/>
              </a:rPr>
              <a:t>n</a:t>
            </a:r>
            <a:r>
              <a:rPr lang="en" sz="650">
                <a:solidFill>
                  <a:schemeClr val="dk1"/>
                </a:solidFill>
                <a:latin typeface="JetBrains Mono"/>
                <a:ea typeface="JetBrains Mono"/>
                <a:cs typeface="JetBrains Mono"/>
                <a:sym typeface="JetBrains Mono"/>
              </a:rPr>
              <a:t> = 679; </a:t>
            </a:r>
            <a:r>
              <a:rPr i="1" lang="en" sz="650">
                <a:solidFill>
                  <a:schemeClr val="dk1"/>
                </a:solidFill>
                <a:latin typeface="JetBrains Mono"/>
                <a:ea typeface="JetBrains Mono"/>
                <a:cs typeface="JetBrains Mono"/>
                <a:sym typeface="JetBrains Mono"/>
              </a:rPr>
              <a:t>P</a:t>
            </a:r>
            <a:r>
              <a:rPr lang="en" sz="650">
                <a:solidFill>
                  <a:schemeClr val="dk1"/>
                </a:solidFill>
                <a:latin typeface="JetBrains Mono"/>
                <a:ea typeface="JetBrains Mono"/>
                <a:cs typeface="JetBrains Mono"/>
                <a:sym typeface="JetBrains Mono"/>
              </a:rPr>
              <a:t> = 0.001).</a:t>
            </a:r>
            <a:endParaRPr sz="650">
              <a:solidFill>
                <a:schemeClr val="dk1"/>
              </a:solidFill>
              <a:latin typeface="JetBrains Mono"/>
              <a:ea typeface="JetBrains Mono"/>
              <a:cs typeface="JetBrains Mono"/>
              <a:sym typeface="JetBrains Mono"/>
            </a:endParaRPr>
          </a:p>
          <a:p>
            <a:pPr indent="0" lvl="0" marL="0" rtl="0" algn="l">
              <a:spcBef>
                <a:spcPts val="1200"/>
              </a:spcBef>
              <a:spcAft>
                <a:spcPts val="1200"/>
              </a:spcAft>
              <a:buClr>
                <a:schemeClr val="dk1"/>
              </a:buClr>
              <a:buSzPts val="1100"/>
              <a:buFont typeface="Arial"/>
              <a:buNone/>
            </a:pPr>
            <a:r>
              <a:rPr b="1" lang="en" sz="650">
                <a:solidFill>
                  <a:schemeClr val="dk1"/>
                </a:solidFill>
                <a:latin typeface="JetBrains Mono"/>
                <a:ea typeface="JetBrains Mono"/>
                <a:cs typeface="JetBrains Mono"/>
                <a:sym typeface="JetBrains Mono"/>
              </a:rPr>
              <a:t>(B)</a:t>
            </a:r>
            <a:r>
              <a:rPr lang="en" sz="650">
                <a:solidFill>
                  <a:schemeClr val="dk1"/>
                </a:solidFill>
                <a:latin typeface="JetBrains Mono"/>
                <a:ea typeface="JetBrains Mono"/>
                <a:cs typeface="JetBrains Mono"/>
                <a:sym typeface="JetBrains Mono"/>
              </a:rPr>
              <a:t> Prevalence of species across lifestyles among infants 0 to 6 months old. VANISH (red and green) and BloSSUM (blue) species with the lowest adj-</a:t>
            </a:r>
            <a:r>
              <a:rPr i="1" lang="en" sz="650">
                <a:solidFill>
                  <a:schemeClr val="dk1"/>
                </a:solidFill>
                <a:latin typeface="JetBrains Mono"/>
                <a:ea typeface="JetBrains Mono"/>
                <a:cs typeface="JetBrains Mono"/>
                <a:sym typeface="JetBrains Mono"/>
              </a:rPr>
              <a:t>P</a:t>
            </a:r>
            <a:r>
              <a:rPr lang="en" sz="650">
                <a:solidFill>
                  <a:schemeClr val="dk1"/>
                </a:solidFill>
                <a:latin typeface="JetBrains Mono"/>
                <a:ea typeface="JetBrains Mono"/>
                <a:cs typeface="JetBrains Mono"/>
                <a:sym typeface="JetBrains Mono"/>
              </a:rPr>
              <a:t> values have text annotations. </a:t>
            </a:r>
            <a:r>
              <a:rPr i="1" lang="en" sz="650">
                <a:solidFill>
                  <a:schemeClr val="dk1"/>
                </a:solidFill>
                <a:latin typeface="JetBrains Mono"/>
                <a:ea typeface="JetBrains Mono"/>
                <a:cs typeface="JetBrains Mono"/>
                <a:sym typeface="JetBrains Mono"/>
              </a:rPr>
              <a:t>B. infantis</a:t>
            </a:r>
            <a:r>
              <a:rPr lang="en" sz="650">
                <a:solidFill>
                  <a:schemeClr val="dk1"/>
                </a:solidFill>
                <a:latin typeface="JetBrains Mono"/>
                <a:ea typeface="JetBrains Mono"/>
                <a:cs typeface="JetBrains Mono"/>
                <a:sym typeface="JetBrains Mono"/>
              </a:rPr>
              <a:t> is shown in orange. “Other” taxa (gray) are those that do not significantly differ according to lifestyle.</a:t>
            </a:r>
            <a:endParaRPr sz="650">
              <a:latin typeface="JetBrains Mono"/>
              <a:ea typeface="JetBrains Mono"/>
              <a:cs typeface="JetBrains Mono"/>
              <a:sym typeface="JetBrains Mono"/>
            </a:endParaRPr>
          </a:p>
        </p:txBody>
      </p:sp>
      <p:pic>
        <p:nvPicPr>
          <p:cNvPr id="193" name="Google Shape;193;p22" title="Screenshot 2026-02-10 at 9.25.25 AM.png"/>
          <p:cNvPicPr preferRelativeResize="0"/>
          <p:nvPr/>
        </p:nvPicPr>
        <p:blipFill>
          <a:blip r:embed="rId3">
            <a:alphaModFix/>
          </a:blip>
          <a:stretch>
            <a:fillRect/>
          </a:stretch>
        </p:blipFill>
        <p:spPr>
          <a:xfrm>
            <a:off x="43700" y="935650"/>
            <a:ext cx="4711571" cy="3505499"/>
          </a:xfrm>
          <a:prstGeom prst="rect">
            <a:avLst/>
          </a:prstGeom>
          <a:noFill/>
          <a:ln>
            <a:noFill/>
          </a:ln>
        </p:spPr>
      </p:pic>
      <p:pic>
        <p:nvPicPr>
          <p:cNvPr id="194" name="Google Shape;194;p22" title="Screenshot 2026-02-10 at 9.25.35 AM.png"/>
          <p:cNvPicPr preferRelativeResize="0"/>
          <p:nvPr/>
        </p:nvPicPr>
        <p:blipFill>
          <a:blip r:embed="rId4">
            <a:alphaModFix/>
          </a:blip>
          <a:stretch>
            <a:fillRect/>
          </a:stretch>
        </p:blipFill>
        <p:spPr>
          <a:xfrm>
            <a:off x="4959879" y="1031251"/>
            <a:ext cx="3679784" cy="2261200"/>
          </a:xfrm>
          <a:prstGeom prst="rect">
            <a:avLst/>
          </a:prstGeom>
          <a:noFill/>
          <a:ln>
            <a:noFill/>
          </a:ln>
        </p:spPr>
      </p:pic>
      <p:sp>
        <p:nvSpPr>
          <p:cNvPr id="195" name="Google Shape;195;p22"/>
          <p:cNvSpPr/>
          <p:nvPr/>
        </p:nvSpPr>
        <p:spPr>
          <a:xfrm>
            <a:off x="6862259" y="173775"/>
            <a:ext cx="15138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196" name="Google Shape;196;p22"/>
          <p:cNvSpPr/>
          <p:nvPr/>
        </p:nvSpPr>
        <p:spPr>
          <a:xfrm rot="5400000">
            <a:off x="6221009" y="-256575"/>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197" name="Google Shape;197;p22"/>
          <p:cNvSpPr txBox="1"/>
          <p:nvPr/>
        </p:nvSpPr>
        <p:spPr>
          <a:xfrm>
            <a:off x="5657613" y="183486"/>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2A/2B</a:t>
            </a:r>
            <a:endParaRPr sz="1105">
              <a:solidFill>
                <a:schemeClr val="lt1"/>
              </a:solidFill>
              <a:latin typeface="JetBrains Mono ExtraBold"/>
              <a:ea typeface="JetBrains Mono ExtraBold"/>
              <a:cs typeface="JetBrains Mono ExtraBold"/>
              <a:sym typeface="JetBrains Mono ExtraBold"/>
            </a:endParaRPr>
          </a:p>
        </p:txBody>
      </p:sp>
      <p:sp>
        <p:nvSpPr>
          <p:cNvPr id="198" name="Google Shape;198;p22"/>
          <p:cNvSpPr txBox="1"/>
          <p:nvPr/>
        </p:nvSpPr>
        <p:spPr>
          <a:xfrm>
            <a:off x="6862259" y="173775"/>
            <a:ext cx="15138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Dominikus Atmaka</a:t>
            </a:r>
            <a:endParaRPr sz="1105">
              <a:solidFill>
                <a:srgbClr val="434343"/>
              </a:solidFill>
              <a:latin typeface="JetBrains Mono"/>
              <a:ea typeface="JetBrains Mono"/>
              <a:cs typeface="JetBrains Mono"/>
              <a:sym typeface="JetBrains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3" title="Screenshot 2026-02-10 at 9.25.45 AM.png"/>
          <p:cNvPicPr preferRelativeResize="0"/>
          <p:nvPr/>
        </p:nvPicPr>
        <p:blipFill rotWithShape="1">
          <a:blip r:embed="rId3">
            <a:alphaModFix/>
          </a:blip>
          <a:srcRect b="89220" l="0" r="69979" t="0"/>
          <a:stretch/>
        </p:blipFill>
        <p:spPr>
          <a:xfrm>
            <a:off x="1068000" y="938534"/>
            <a:ext cx="554875" cy="487591"/>
          </a:xfrm>
          <a:prstGeom prst="rect">
            <a:avLst/>
          </a:prstGeom>
          <a:noFill/>
          <a:ln>
            <a:noFill/>
          </a:ln>
        </p:spPr>
      </p:pic>
      <p:pic>
        <p:nvPicPr>
          <p:cNvPr id="204" name="Google Shape;204;p23" title="Screenshot 2026-02-10 at 9.25.45 AM.png"/>
          <p:cNvPicPr preferRelativeResize="0"/>
          <p:nvPr/>
        </p:nvPicPr>
        <p:blipFill rotWithShape="1">
          <a:blip r:embed="rId3">
            <a:alphaModFix/>
          </a:blip>
          <a:srcRect b="0" l="0" r="0" t="8792"/>
          <a:stretch/>
        </p:blipFill>
        <p:spPr>
          <a:xfrm>
            <a:off x="1216200" y="1325263"/>
            <a:ext cx="1010250" cy="2255026"/>
          </a:xfrm>
          <a:prstGeom prst="rect">
            <a:avLst/>
          </a:prstGeom>
          <a:noFill/>
          <a:ln>
            <a:noFill/>
          </a:ln>
        </p:spPr>
      </p:pic>
      <p:pic>
        <p:nvPicPr>
          <p:cNvPr id="205" name="Google Shape;205;p23" title="Screenshot 2026-02-10 at 9.25.57 AM.png"/>
          <p:cNvPicPr preferRelativeResize="0"/>
          <p:nvPr/>
        </p:nvPicPr>
        <p:blipFill rotWithShape="1">
          <a:blip r:embed="rId4">
            <a:alphaModFix/>
          </a:blip>
          <a:srcRect b="0" l="0" r="0" t="13247"/>
          <a:stretch/>
        </p:blipFill>
        <p:spPr>
          <a:xfrm>
            <a:off x="2319100" y="1355562"/>
            <a:ext cx="2590550" cy="2144725"/>
          </a:xfrm>
          <a:prstGeom prst="rect">
            <a:avLst/>
          </a:prstGeom>
          <a:noFill/>
          <a:ln>
            <a:noFill/>
          </a:ln>
        </p:spPr>
      </p:pic>
      <p:pic>
        <p:nvPicPr>
          <p:cNvPr id="206" name="Google Shape;206;p23" title="Screenshot 2026-02-10 at 9.26.12 AM.png"/>
          <p:cNvPicPr preferRelativeResize="0"/>
          <p:nvPr/>
        </p:nvPicPr>
        <p:blipFill rotWithShape="1">
          <a:blip r:embed="rId5">
            <a:alphaModFix/>
          </a:blip>
          <a:srcRect b="0" l="0" r="0" t="7347"/>
          <a:stretch/>
        </p:blipFill>
        <p:spPr>
          <a:xfrm>
            <a:off x="5002300" y="1225013"/>
            <a:ext cx="3073701" cy="2431001"/>
          </a:xfrm>
          <a:prstGeom prst="rect">
            <a:avLst/>
          </a:prstGeom>
          <a:noFill/>
          <a:ln>
            <a:noFill/>
          </a:ln>
        </p:spPr>
      </p:pic>
      <p:sp>
        <p:nvSpPr>
          <p:cNvPr id="207" name="Google Shape;207;p23"/>
          <p:cNvSpPr txBox="1"/>
          <p:nvPr/>
        </p:nvSpPr>
        <p:spPr>
          <a:xfrm>
            <a:off x="185550" y="3874800"/>
            <a:ext cx="8772900" cy="132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650">
                <a:solidFill>
                  <a:schemeClr val="dk1"/>
                </a:solidFill>
                <a:latin typeface="JetBrains Mono"/>
                <a:ea typeface="JetBrains Mono"/>
                <a:cs typeface="JetBrains Mono"/>
                <a:sym typeface="JetBrains Mono"/>
              </a:rPr>
              <a:t>(C)</a:t>
            </a:r>
            <a:r>
              <a:rPr lang="en" sz="650">
                <a:solidFill>
                  <a:schemeClr val="dk1"/>
                </a:solidFill>
                <a:latin typeface="JetBrains Mono"/>
                <a:ea typeface="JetBrains Mono"/>
                <a:cs typeface="JetBrains Mono"/>
                <a:sym typeface="JetBrains Mono"/>
              </a:rPr>
              <a:t> Relative representation of four common Bifidobacterium species in infants 0 to 6 months old by lifestyle. </a:t>
            </a:r>
            <a:endParaRPr sz="65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b="1" lang="en" sz="650">
                <a:solidFill>
                  <a:schemeClr val="dk1"/>
                </a:solidFill>
                <a:latin typeface="JetBrains Mono"/>
                <a:ea typeface="JetBrains Mono"/>
                <a:cs typeface="JetBrains Mono"/>
                <a:sym typeface="JetBrains Mono"/>
              </a:rPr>
              <a:t>(D)</a:t>
            </a:r>
            <a:r>
              <a:rPr lang="en" sz="650">
                <a:solidFill>
                  <a:schemeClr val="dk1"/>
                </a:solidFill>
                <a:latin typeface="JetBrains Mono"/>
                <a:ea typeface="JetBrains Mono"/>
                <a:cs typeface="JetBrains Mono"/>
                <a:sym typeface="JetBrains Mono"/>
              </a:rPr>
              <a:t> Scatterplot of B. infantis versus B. breve abundance among infants 0 to 6 months old. Contour lines display the kernel density estimation. </a:t>
            </a:r>
            <a:endParaRPr>
              <a:solidFill>
                <a:schemeClr val="dk1"/>
              </a:solidFill>
            </a:endParaRPr>
          </a:p>
          <a:p>
            <a:pPr indent="0" lvl="0" marL="0" rtl="0" algn="l">
              <a:lnSpc>
                <a:spcPct val="115000"/>
              </a:lnSpc>
              <a:spcBef>
                <a:spcPts val="1200"/>
              </a:spcBef>
              <a:spcAft>
                <a:spcPts val="0"/>
              </a:spcAft>
              <a:buNone/>
            </a:pPr>
            <a:r>
              <a:rPr b="1" lang="en" sz="650">
                <a:solidFill>
                  <a:schemeClr val="dk1"/>
                </a:solidFill>
                <a:latin typeface="JetBrains Mono"/>
                <a:ea typeface="JetBrains Mono"/>
                <a:cs typeface="JetBrains Mono"/>
                <a:sym typeface="JetBrains Mono"/>
              </a:rPr>
              <a:t>(E)</a:t>
            </a:r>
            <a:r>
              <a:rPr lang="en" sz="650">
                <a:solidFill>
                  <a:schemeClr val="dk1"/>
                </a:solidFill>
                <a:latin typeface="JetBrains Mono"/>
                <a:ea typeface="JetBrains Mono"/>
                <a:cs typeface="JetBrains Mono"/>
                <a:sym typeface="JetBrains Mono"/>
              </a:rPr>
              <a:t> Prevalence of HMO-utilization clusters across ages and lifestyles. Clusters are considered present if all genes in the cluster are detected above a variable coverage threshold (to ensure that results are robust to differences in sequencing depth; see methods for details). * indicates adj-P &lt; 0.05; Fisher’s exact test with false discovery rate correction; nonindustrialized versus industrialized.</a:t>
            </a:r>
            <a:endParaRPr sz="650">
              <a:solidFill>
                <a:schemeClr val="dk2"/>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t/>
            </a:r>
            <a:endParaRPr sz="650">
              <a:solidFill>
                <a:schemeClr val="dk1"/>
              </a:solidFill>
              <a:latin typeface="JetBrains Mono"/>
              <a:ea typeface="JetBrains Mono"/>
              <a:cs typeface="JetBrains Mono"/>
              <a:sym typeface="JetBrains Mono"/>
            </a:endParaRPr>
          </a:p>
        </p:txBody>
      </p:sp>
      <p:pic>
        <p:nvPicPr>
          <p:cNvPr id="208" name="Google Shape;208;p23" title="Screenshot 2026-02-10 at 9.25.57 AM.png"/>
          <p:cNvPicPr preferRelativeResize="0"/>
          <p:nvPr/>
        </p:nvPicPr>
        <p:blipFill rotWithShape="1">
          <a:blip r:embed="rId4">
            <a:alphaModFix/>
          </a:blip>
          <a:srcRect b="85427" l="0" r="88293" t="0"/>
          <a:stretch/>
        </p:blipFill>
        <p:spPr>
          <a:xfrm>
            <a:off x="2431400" y="995287"/>
            <a:ext cx="303274" cy="360275"/>
          </a:xfrm>
          <a:prstGeom prst="rect">
            <a:avLst/>
          </a:prstGeom>
          <a:noFill/>
          <a:ln>
            <a:noFill/>
          </a:ln>
        </p:spPr>
      </p:pic>
      <p:pic>
        <p:nvPicPr>
          <p:cNvPr id="209" name="Google Shape;209;p23" title="Screenshot 2026-02-10 at 9.26.12 AM.png"/>
          <p:cNvPicPr preferRelativeResize="0"/>
          <p:nvPr/>
        </p:nvPicPr>
        <p:blipFill rotWithShape="1">
          <a:blip r:embed="rId5">
            <a:alphaModFix/>
          </a:blip>
          <a:srcRect b="90871" l="0" r="91755" t="0"/>
          <a:stretch/>
        </p:blipFill>
        <p:spPr>
          <a:xfrm>
            <a:off x="5002300" y="995292"/>
            <a:ext cx="395775" cy="374065"/>
          </a:xfrm>
          <a:prstGeom prst="rect">
            <a:avLst/>
          </a:prstGeom>
          <a:noFill/>
          <a:ln>
            <a:noFill/>
          </a:ln>
        </p:spPr>
      </p:pic>
      <p:sp>
        <p:nvSpPr>
          <p:cNvPr id="210" name="Google Shape;210;p23"/>
          <p:cNvSpPr/>
          <p:nvPr/>
        </p:nvSpPr>
        <p:spPr>
          <a:xfrm rot="5400000">
            <a:off x="2497700" y="-2322825"/>
            <a:ext cx="653100" cy="565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3"/>
          <p:cNvSpPr txBox="1"/>
          <p:nvPr>
            <p:ph type="title"/>
          </p:nvPr>
        </p:nvSpPr>
        <p:spPr>
          <a:xfrm>
            <a:off x="34107" y="173775"/>
            <a:ext cx="5580300" cy="6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20">
                <a:solidFill>
                  <a:schemeClr val="lt1"/>
                </a:solidFill>
                <a:latin typeface="JetBrains Mono"/>
                <a:ea typeface="JetBrains Mono"/>
                <a:cs typeface="JetBrains Mono"/>
                <a:sym typeface="JetBrains Mono"/>
              </a:rPr>
              <a:t>Figure 2: </a:t>
            </a:r>
            <a:r>
              <a:rPr lang="en" sz="1620">
                <a:solidFill>
                  <a:schemeClr val="lt1"/>
                </a:solidFill>
                <a:latin typeface="JetBrains Mono"/>
                <a:ea typeface="JetBrains Mono"/>
                <a:cs typeface="JetBrains Mono"/>
                <a:sym typeface="JetBrains Mono"/>
              </a:rPr>
              <a:t>Age and lifestyle are associated with infant microbiome functions</a:t>
            </a:r>
            <a:endParaRPr sz="1620">
              <a:solidFill>
                <a:schemeClr val="lt1"/>
              </a:solidFill>
              <a:latin typeface="JetBrains Mono"/>
              <a:ea typeface="JetBrains Mono"/>
              <a:cs typeface="JetBrains Mono"/>
              <a:sym typeface="JetBrains Mono"/>
            </a:endParaRPr>
          </a:p>
        </p:txBody>
      </p:sp>
      <p:sp>
        <p:nvSpPr>
          <p:cNvPr id="212" name="Google Shape;212;p23"/>
          <p:cNvSpPr/>
          <p:nvPr/>
        </p:nvSpPr>
        <p:spPr>
          <a:xfrm>
            <a:off x="6861428" y="180376"/>
            <a:ext cx="14313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13" name="Google Shape;213;p23"/>
          <p:cNvSpPr/>
          <p:nvPr/>
        </p:nvSpPr>
        <p:spPr>
          <a:xfrm rot="5400000">
            <a:off x="6220178" y="-249974"/>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14" name="Google Shape;214;p23"/>
          <p:cNvSpPr txBox="1"/>
          <p:nvPr/>
        </p:nvSpPr>
        <p:spPr>
          <a:xfrm>
            <a:off x="5656782" y="190088"/>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2C/2D</a:t>
            </a:r>
            <a:endParaRPr sz="1105">
              <a:solidFill>
                <a:schemeClr val="lt1"/>
              </a:solidFill>
              <a:latin typeface="JetBrains Mono ExtraBold"/>
              <a:ea typeface="JetBrains Mono ExtraBold"/>
              <a:cs typeface="JetBrains Mono ExtraBold"/>
              <a:sym typeface="JetBrains Mono ExtraBold"/>
            </a:endParaRPr>
          </a:p>
        </p:txBody>
      </p:sp>
      <p:sp>
        <p:nvSpPr>
          <p:cNvPr id="215" name="Google Shape;215;p23"/>
          <p:cNvSpPr txBox="1"/>
          <p:nvPr/>
        </p:nvSpPr>
        <p:spPr>
          <a:xfrm>
            <a:off x="6861428" y="180376"/>
            <a:ext cx="14313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Cristina Blanco</a:t>
            </a:r>
            <a:endParaRPr sz="1105">
              <a:solidFill>
                <a:srgbClr val="434343"/>
              </a:solidFill>
              <a:latin typeface="JetBrains Mono"/>
              <a:ea typeface="JetBrains Mono"/>
              <a:cs typeface="JetBrains Mono"/>
              <a:sym typeface="JetBrains Mono"/>
            </a:endParaRPr>
          </a:p>
        </p:txBody>
      </p:sp>
      <p:sp>
        <p:nvSpPr>
          <p:cNvPr id="216" name="Google Shape;216;p23"/>
          <p:cNvSpPr/>
          <p:nvPr/>
        </p:nvSpPr>
        <p:spPr>
          <a:xfrm>
            <a:off x="6861423" y="490340"/>
            <a:ext cx="17448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17" name="Google Shape;217;p23"/>
          <p:cNvSpPr/>
          <p:nvPr/>
        </p:nvSpPr>
        <p:spPr>
          <a:xfrm rot="5400000">
            <a:off x="6220173" y="59990"/>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18" name="Google Shape;218;p23"/>
          <p:cNvSpPr txBox="1"/>
          <p:nvPr/>
        </p:nvSpPr>
        <p:spPr>
          <a:xfrm>
            <a:off x="5656777" y="500051"/>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2E</a:t>
            </a:r>
            <a:endParaRPr sz="1105">
              <a:solidFill>
                <a:schemeClr val="lt1"/>
              </a:solidFill>
              <a:latin typeface="JetBrains Mono ExtraBold"/>
              <a:ea typeface="JetBrains Mono ExtraBold"/>
              <a:cs typeface="JetBrains Mono ExtraBold"/>
              <a:sym typeface="JetBrains Mono ExtraBold"/>
            </a:endParaRPr>
          </a:p>
        </p:txBody>
      </p:sp>
      <p:sp>
        <p:nvSpPr>
          <p:cNvPr id="219" name="Google Shape;219;p23"/>
          <p:cNvSpPr txBox="1"/>
          <p:nvPr/>
        </p:nvSpPr>
        <p:spPr>
          <a:xfrm>
            <a:off x="6861423" y="490340"/>
            <a:ext cx="17448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Chayanee Chanpanich</a:t>
            </a:r>
            <a:endParaRPr sz="1105">
              <a:solidFill>
                <a:srgbClr val="434343"/>
              </a:solidFill>
              <a:latin typeface="JetBrains Mono"/>
              <a:ea typeface="JetBrains Mono"/>
              <a:cs typeface="JetBrains Mono"/>
              <a:sym typeface="JetBrains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24" title="Screenshot 2026-02-10 at 9.26.40 AM.png"/>
          <p:cNvPicPr preferRelativeResize="0"/>
          <p:nvPr/>
        </p:nvPicPr>
        <p:blipFill>
          <a:blip r:embed="rId3">
            <a:alphaModFix/>
          </a:blip>
          <a:stretch>
            <a:fillRect/>
          </a:stretch>
        </p:blipFill>
        <p:spPr>
          <a:xfrm>
            <a:off x="2848286" y="925283"/>
            <a:ext cx="1814499" cy="4176056"/>
          </a:xfrm>
          <a:prstGeom prst="rect">
            <a:avLst/>
          </a:prstGeom>
          <a:noFill/>
          <a:ln>
            <a:noFill/>
          </a:ln>
        </p:spPr>
      </p:pic>
      <p:sp>
        <p:nvSpPr>
          <p:cNvPr id="225" name="Google Shape;225;p24"/>
          <p:cNvSpPr txBox="1"/>
          <p:nvPr/>
        </p:nvSpPr>
        <p:spPr>
          <a:xfrm>
            <a:off x="4653066" y="1259225"/>
            <a:ext cx="6966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chemeClr val="dk2"/>
                </a:solidFill>
                <a:latin typeface="JetBrains Mono"/>
                <a:ea typeface="JetBrains Mono"/>
                <a:cs typeface="JetBrains Mono"/>
                <a:sym typeface="JetBrains Mono"/>
              </a:rPr>
              <a:t>-&gt;</a:t>
            </a:r>
            <a:endParaRPr b="1" sz="3100">
              <a:solidFill>
                <a:schemeClr val="dk2"/>
              </a:solidFill>
              <a:latin typeface="JetBrains Mono"/>
              <a:ea typeface="JetBrains Mono"/>
              <a:cs typeface="JetBrains Mono"/>
              <a:sym typeface="JetBrains Mono"/>
            </a:endParaRPr>
          </a:p>
        </p:txBody>
      </p:sp>
      <p:sp>
        <p:nvSpPr>
          <p:cNvPr id="226" name="Google Shape;226;p24"/>
          <p:cNvSpPr/>
          <p:nvPr/>
        </p:nvSpPr>
        <p:spPr>
          <a:xfrm>
            <a:off x="2773936" y="895233"/>
            <a:ext cx="1963200" cy="2166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7" name="Google Shape;227;p24" title="Screenshot 2026-02-10 at 9.26.40 AM.png"/>
          <p:cNvPicPr preferRelativeResize="0"/>
          <p:nvPr/>
        </p:nvPicPr>
        <p:blipFill rotWithShape="1">
          <a:blip r:embed="rId3">
            <a:alphaModFix/>
          </a:blip>
          <a:srcRect b="48678" l="0" r="0" t="0"/>
          <a:stretch/>
        </p:blipFill>
        <p:spPr>
          <a:xfrm>
            <a:off x="5351061" y="895233"/>
            <a:ext cx="3100175" cy="3661876"/>
          </a:xfrm>
          <a:prstGeom prst="rect">
            <a:avLst/>
          </a:prstGeom>
          <a:noFill/>
          <a:ln cap="flat" cmpd="sng" w="9525">
            <a:solidFill>
              <a:schemeClr val="dk2"/>
            </a:solidFill>
            <a:prstDash val="solid"/>
            <a:round/>
            <a:headEnd len="sm" w="sm" type="none"/>
            <a:tailEnd len="sm" w="sm" type="none"/>
          </a:ln>
        </p:spPr>
      </p:pic>
      <p:sp>
        <p:nvSpPr>
          <p:cNvPr id="228" name="Google Shape;228;p24"/>
          <p:cNvSpPr txBox="1"/>
          <p:nvPr/>
        </p:nvSpPr>
        <p:spPr>
          <a:xfrm>
            <a:off x="692775" y="3390900"/>
            <a:ext cx="2514600" cy="151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850">
                <a:solidFill>
                  <a:schemeClr val="dk1"/>
                </a:solidFill>
                <a:latin typeface="JetBrains Mono"/>
                <a:ea typeface="JetBrains Mono"/>
                <a:cs typeface="JetBrains Mono"/>
                <a:sym typeface="JetBrains Mono"/>
              </a:rPr>
              <a:t>(F)</a:t>
            </a:r>
            <a:r>
              <a:rPr lang="en" sz="850">
                <a:solidFill>
                  <a:schemeClr val="dk1"/>
                </a:solidFill>
                <a:latin typeface="JetBrains Mono"/>
                <a:ea typeface="JetBrains Mono"/>
                <a:cs typeface="JetBrains Mono"/>
                <a:sym typeface="JetBrains Mono"/>
              </a:rPr>
              <a:t> Phylogenetic tree of B. infantis genomes based on universal single copy genes. Genome names are colored on the basis of lifestyle of origin. Isolate genomes are marked with a checkmark. Public reference genomes for B. longum and B. infantis are included (gray text).</a:t>
            </a:r>
            <a:endParaRPr sz="850">
              <a:solidFill>
                <a:schemeClr val="dk1"/>
              </a:solidFill>
              <a:latin typeface="JetBrains Mono"/>
              <a:ea typeface="JetBrains Mono"/>
              <a:cs typeface="JetBrains Mono"/>
              <a:sym typeface="JetBrains Mono"/>
            </a:endParaRPr>
          </a:p>
        </p:txBody>
      </p:sp>
      <p:sp>
        <p:nvSpPr>
          <p:cNvPr id="229" name="Google Shape;229;p24"/>
          <p:cNvSpPr/>
          <p:nvPr/>
        </p:nvSpPr>
        <p:spPr>
          <a:xfrm rot="5400000">
            <a:off x="2497700" y="-2322825"/>
            <a:ext cx="653100" cy="565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4"/>
          <p:cNvSpPr txBox="1"/>
          <p:nvPr>
            <p:ph type="title"/>
          </p:nvPr>
        </p:nvSpPr>
        <p:spPr>
          <a:xfrm>
            <a:off x="34107" y="173775"/>
            <a:ext cx="5580300" cy="6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20">
                <a:solidFill>
                  <a:schemeClr val="lt1"/>
                </a:solidFill>
                <a:latin typeface="JetBrains Mono"/>
                <a:ea typeface="JetBrains Mono"/>
                <a:cs typeface="JetBrains Mono"/>
                <a:sym typeface="JetBrains Mono"/>
              </a:rPr>
              <a:t>Figure 2: </a:t>
            </a:r>
            <a:r>
              <a:rPr lang="en" sz="1620">
                <a:solidFill>
                  <a:schemeClr val="lt1"/>
                </a:solidFill>
                <a:latin typeface="JetBrains Mono"/>
                <a:ea typeface="JetBrains Mono"/>
                <a:cs typeface="JetBrains Mono"/>
                <a:sym typeface="JetBrains Mono"/>
              </a:rPr>
              <a:t>Age and lifestyle are associated with infant microbiome functions</a:t>
            </a:r>
            <a:endParaRPr sz="1620">
              <a:solidFill>
                <a:schemeClr val="lt1"/>
              </a:solidFill>
              <a:latin typeface="JetBrains Mono"/>
              <a:ea typeface="JetBrains Mono"/>
              <a:cs typeface="JetBrains Mono"/>
              <a:sym typeface="JetBrains Mono"/>
            </a:endParaRPr>
          </a:p>
        </p:txBody>
      </p:sp>
      <p:sp>
        <p:nvSpPr>
          <p:cNvPr id="231" name="Google Shape;231;p24"/>
          <p:cNvSpPr/>
          <p:nvPr/>
        </p:nvSpPr>
        <p:spPr>
          <a:xfrm>
            <a:off x="6863988" y="180379"/>
            <a:ext cx="12609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32" name="Google Shape;232;p24"/>
          <p:cNvSpPr/>
          <p:nvPr/>
        </p:nvSpPr>
        <p:spPr>
          <a:xfrm rot="5400000">
            <a:off x="6222738" y="-249971"/>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33" name="Google Shape;233;p24"/>
          <p:cNvSpPr txBox="1"/>
          <p:nvPr/>
        </p:nvSpPr>
        <p:spPr>
          <a:xfrm>
            <a:off x="5659342" y="190090"/>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2F</a:t>
            </a:r>
            <a:endParaRPr sz="1105">
              <a:solidFill>
                <a:schemeClr val="lt1"/>
              </a:solidFill>
              <a:latin typeface="JetBrains Mono ExtraBold"/>
              <a:ea typeface="JetBrains Mono ExtraBold"/>
              <a:cs typeface="JetBrains Mono ExtraBold"/>
              <a:sym typeface="JetBrains Mono ExtraBold"/>
            </a:endParaRPr>
          </a:p>
        </p:txBody>
      </p:sp>
      <p:sp>
        <p:nvSpPr>
          <p:cNvPr id="234" name="Google Shape;234;p24"/>
          <p:cNvSpPr txBox="1"/>
          <p:nvPr/>
        </p:nvSpPr>
        <p:spPr>
          <a:xfrm>
            <a:off x="6863988" y="180379"/>
            <a:ext cx="12609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Amara Onwunzo</a:t>
            </a:r>
            <a:endParaRPr sz="1105">
              <a:solidFill>
                <a:srgbClr val="434343"/>
              </a:solidFill>
              <a:latin typeface="JetBrains Mono"/>
              <a:ea typeface="JetBrains Mono"/>
              <a:cs typeface="JetBrains Mono"/>
              <a:sym typeface="JetBrains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5"/>
          <p:cNvSpPr/>
          <p:nvPr/>
        </p:nvSpPr>
        <p:spPr>
          <a:xfrm rot="5400000">
            <a:off x="2654825" y="-2480025"/>
            <a:ext cx="653100" cy="5973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25"/>
          <p:cNvSpPr txBox="1"/>
          <p:nvPr>
            <p:ph type="title"/>
          </p:nvPr>
        </p:nvSpPr>
        <p:spPr>
          <a:xfrm>
            <a:off x="36308" y="173775"/>
            <a:ext cx="5890200" cy="6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20">
                <a:solidFill>
                  <a:schemeClr val="lt1"/>
                </a:solidFill>
                <a:latin typeface="JetBrains Mono"/>
                <a:ea typeface="JetBrains Mono"/>
                <a:cs typeface="JetBrains Mono"/>
                <a:sym typeface="JetBrains Mono"/>
              </a:rPr>
              <a:t>Figure 3: </a:t>
            </a:r>
            <a:r>
              <a:rPr lang="en" sz="1620">
                <a:solidFill>
                  <a:schemeClr val="lt1"/>
                </a:solidFill>
                <a:latin typeface="JetBrains Mono"/>
                <a:ea typeface="JetBrains Mono"/>
                <a:cs typeface="JetBrains Mono"/>
                <a:sym typeface="JetBrains Mono"/>
              </a:rPr>
              <a:t>Strain sharing between mother-infant dyads and non-dyads is lifestyle-specific</a:t>
            </a:r>
            <a:endParaRPr sz="1620">
              <a:solidFill>
                <a:schemeClr val="lt1"/>
              </a:solidFill>
              <a:latin typeface="JetBrains Mono"/>
              <a:ea typeface="JetBrains Mono"/>
              <a:cs typeface="JetBrains Mono"/>
              <a:sym typeface="JetBrains Mono"/>
            </a:endParaRPr>
          </a:p>
        </p:txBody>
      </p:sp>
      <p:pic>
        <p:nvPicPr>
          <p:cNvPr id="241" name="Google Shape;241;p25" title="Screenshot 2026-02-10 at 9.26.56 AM.png"/>
          <p:cNvPicPr preferRelativeResize="0"/>
          <p:nvPr/>
        </p:nvPicPr>
        <p:blipFill>
          <a:blip r:embed="rId3">
            <a:alphaModFix/>
          </a:blip>
          <a:stretch>
            <a:fillRect/>
          </a:stretch>
        </p:blipFill>
        <p:spPr>
          <a:xfrm>
            <a:off x="152400" y="992475"/>
            <a:ext cx="6469510" cy="3998625"/>
          </a:xfrm>
          <a:prstGeom prst="rect">
            <a:avLst/>
          </a:prstGeom>
          <a:noFill/>
          <a:ln>
            <a:noFill/>
          </a:ln>
        </p:spPr>
      </p:pic>
      <p:sp>
        <p:nvSpPr>
          <p:cNvPr id="242" name="Google Shape;242;p25"/>
          <p:cNvSpPr txBox="1"/>
          <p:nvPr/>
        </p:nvSpPr>
        <p:spPr>
          <a:xfrm>
            <a:off x="6695750" y="1425575"/>
            <a:ext cx="2256000" cy="349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550">
                <a:solidFill>
                  <a:schemeClr val="dk1"/>
                </a:solidFill>
                <a:latin typeface="JetBrains Mono"/>
                <a:ea typeface="JetBrains Mono"/>
                <a:cs typeface="JetBrains Mono"/>
                <a:sym typeface="JetBrains Mono"/>
              </a:rPr>
              <a:t>(A)</a:t>
            </a:r>
            <a:r>
              <a:rPr lang="en" sz="550">
                <a:solidFill>
                  <a:schemeClr val="dk1"/>
                </a:solidFill>
                <a:latin typeface="JetBrains Mono"/>
                <a:ea typeface="JetBrains Mono"/>
                <a:cs typeface="JetBrains Mono"/>
                <a:sym typeface="JetBrains Mono"/>
              </a:rPr>
              <a:t> The mean strains shared (left) and the percentage of infant strains found in mothers (right) in mother-infant dyads versus mother-infant nondyads (top) and nondyads from the same bushcamp versus nondyads from different bushcamps (bottom). Error bars represent standard error (*, adj-P &lt; 0.05; **, adj-P &lt; 0.01; ***, adj-P &lt; 0.001; Wilcoxon rank-sum test). </a:t>
            </a:r>
            <a:r>
              <a:rPr b="1" lang="en" sz="550">
                <a:solidFill>
                  <a:schemeClr val="dk1"/>
                </a:solidFill>
                <a:latin typeface="JetBrains Mono"/>
                <a:ea typeface="JetBrains Mono"/>
                <a:cs typeface="JetBrains Mono"/>
                <a:sym typeface="JetBrains Mono"/>
              </a:rPr>
              <a:t>(</a:t>
            </a:r>
            <a:endParaRPr b="1" sz="55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b="1" lang="en" sz="550">
                <a:solidFill>
                  <a:schemeClr val="dk1"/>
                </a:solidFill>
                <a:latin typeface="JetBrains Mono"/>
                <a:ea typeface="JetBrains Mono"/>
                <a:cs typeface="JetBrains Mono"/>
                <a:sym typeface="JetBrains Mono"/>
              </a:rPr>
              <a:t>B)</a:t>
            </a:r>
            <a:r>
              <a:rPr lang="en" sz="550">
                <a:solidFill>
                  <a:schemeClr val="dk1"/>
                </a:solidFill>
                <a:latin typeface="JetBrains Mono"/>
                <a:ea typeface="JetBrains Mono"/>
                <a:cs typeface="JetBrains Mono"/>
                <a:sym typeface="JetBrains Mono"/>
              </a:rPr>
              <a:t> Percentage of strains detected in all Hadza mothers and infants and whether they are detected in infants only, mothers only, or shared within a mother-infant dyad (“shared”) categorized by phylum. Numbers to the right of bars indicate the number of vertically shared strains over the number of strains detected in either infant or maternal samples. Phyla with a significant difference in the percentage of vertically transmitted strains as compared with all other phyla are marked with asterisks (Fisher’s exact test with P value correction). </a:t>
            </a:r>
            <a:endParaRPr sz="55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rPr b="1" lang="en" sz="550">
                <a:solidFill>
                  <a:schemeClr val="dk1"/>
                </a:solidFill>
                <a:latin typeface="JetBrains Mono"/>
                <a:ea typeface="JetBrains Mono"/>
                <a:cs typeface="JetBrains Mono"/>
                <a:sym typeface="JetBrains Mono"/>
              </a:rPr>
              <a:t>(C)</a:t>
            </a:r>
            <a:r>
              <a:rPr lang="en" sz="550">
                <a:solidFill>
                  <a:schemeClr val="dk1"/>
                </a:solidFill>
                <a:latin typeface="JetBrains Mono"/>
                <a:ea typeface="JetBrains Mono"/>
                <a:cs typeface="JetBrains Mono"/>
                <a:sym typeface="JetBrains Mono"/>
              </a:rPr>
              <a:t> Percentage of vertically transmitted strains in Hadza and Swedish cohorts by phylum (top), genus (middle; only genera with significant differences shown), and VANISH / BloSSUM (bottom). All metagenomes were subset to 4Gbp for this analysis to remove any biases associated with sequencing depth. Taxa that are significantly enriched in either cohort are marked with an asterisk (*, adj-P &lt; 0.05; **, adj-P &lt; 0.01; ***, adj-P &lt; 0.001; Fisher’s exact test)</a:t>
            </a:r>
            <a:endParaRPr sz="550">
              <a:solidFill>
                <a:schemeClr val="dk2"/>
              </a:solidFill>
              <a:latin typeface="JetBrains Mono"/>
              <a:ea typeface="JetBrains Mono"/>
              <a:cs typeface="JetBrains Mono"/>
              <a:sym typeface="JetBrains Mono"/>
            </a:endParaRPr>
          </a:p>
        </p:txBody>
      </p:sp>
      <p:sp>
        <p:nvSpPr>
          <p:cNvPr id="243" name="Google Shape;243;p25"/>
          <p:cNvSpPr/>
          <p:nvPr/>
        </p:nvSpPr>
        <p:spPr>
          <a:xfrm>
            <a:off x="7179676" y="180375"/>
            <a:ext cx="18741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44" name="Google Shape;244;p25"/>
          <p:cNvSpPr/>
          <p:nvPr/>
        </p:nvSpPr>
        <p:spPr>
          <a:xfrm rot="5400000">
            <a:off x="6538430" y="-249976"/>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45" name="Google Shape;245;p25"/>
          <p:cNvSpPr txBox="1"/>
          <p:nvPr/>
        </p:nvSpPr>
        <p:spPr>
          <a:xfrm>
            <a:off x="5975033" y="190085"/>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3A</a:t>
            </a:r>
            <a:endParaRPr sz="1105">
              <a:solidFill>
                <a:schemeClr val="lt1"/>
              </a:solidFill>
              <a:latin typeface="JetBrains Mono ExtraBold"/>
              <a:ea typeface="JetBrains Mono ExtraBold"/>
              <a:cs typeface="JetBrains Mono ExtraBold"/>
              <a:sym typeface="JetBrains Mono ExtraBold"/>
            </a:endParaRPr>
          </a:p>
        </p:txBody>
      </p:sp>
      <p:sp>
        <p:nvSpPr>
          <p:cNvPr id="246" name="Google Shape;246;p25"/>
          <p:cNvSpPr txBox="1"/>
          <p:nvPr/>
        </p:nvSpPr>
        <p:spPr>
          <a:xfrm>
            <a:off x="7179676" y="180375"/>
            <a:ext cx="18741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Santiago G. Gonzalez</a:t>
            </a:r>
            <a:endParaRPr sz="1105">
              <a:solidFill>
                <a:srgbClr val="434343"/>
              </a:solidFill>
              <a:latin typeface="JetBrains Mono"/>
              <a:ea typeface="JetBrains Mono"/>
              <a:cs typeface="JetBrains Mono"/>
              <a:sym typeface="JetBrains Mono"/>
            </a:endParaRPr>
          </a:p>
        </p:txBody>
      </p:sp>
      <p:sp>
        <p:nvSpPr>
          <p:cNvPr id="247" name="Google Shape;247;p25"/>
          <p:cNvSpPr/>
          <p:nvPr/>
        </p:nvSpPr>
        <p:spPr>
          <a:xfrm>
            <a:off x="7179681" y="488601"/>
            <a:ext cx="16209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48" name="Google Shape;248;p25"/>
          <p:cNvSpPr/>
          <p:nvPr/>
        </p:nvSpPr>
        <p:spPr>
          <a:xfrm rot="5400000">
            <a:off x="6538430" y="58251"/>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49" name="Google Shape;249;p25"/>
          <p:cNvSpPr txBox="1"/>
          <p:nvPr/>
        </p:nvSpPr>
        <p:spPr>
          <a:xfrm>
            <a:off x="5975034" y="498313"/>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3B</a:t>
            </a:r>
            <a:endParaRPr sz="1105">
              <a:solidFill>
                <a:schemeClr val="lt1"/>
              </a:solidFill>
              <a:latin typeface="JetBrains Mono ExtraBold"/>
              <a:ea typeface="JetBrains Mono ExtraBold"/>
              <a:cs typeface="JetBrains Mono ExtraBold"/>
              <a:sym typeface="JetBrains Mono ExtraBold"/>
            </a:endParaRPr>
          </a:p>
        </p:txBody>
      </p:sp>
      <p:sp>
        <p:nvSpPr>
          <p:cNvPr id="250" name="Google Shape;250;p25"/>
          <p:cNvSpPr txBox="1"/>
          <p:nvPr/>
        </p:nvSpPr>
        <p:spPr>
          <a:xfrm>
            <a:off x="7179681" y="488601"/>
            <a:ext cx="16209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Melanie Wilkinson</a:t>
            </a:r>
            <a:endParaRPr sz="1105">
              <a:solidFill>
                <a:srgbClr val="434343"/>
              </a:solidFill>
              <a:latin typeface="JetBrains Mono"/>
              <a:ea typeface="JetBrains Mono"/>
              <a:cs typeface="JetBrains Mono"/>
              <a:sym typeface="JetBrains Mono"/>
            </a:endParaRPr>
          </a:p>
        </p:txBody>
      </p:sp>
      <p:sp>
        <p:nvSpPr>
          <p:cNvPr id="251" name="Google Shape;251;p25"/>
          <p:cNvSpPr/>
          <p:nvPr/>
        </p:nvSpPr>
        <p:spPr>
          <a:xfrm>
            <a:off x="7179677" y="802985"/>
            <a:ext cx="1431300" cy="210900"/>
          </a:xfrm>
          <a:prstGeom prst="rect">
            <a:avLst/>
          </a:prstGeom>
          <a:solidFill>
            <a:srgbClr val="0097A7">
              <a:alpha val="14560"/>
            </a:srgbClr>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52" name="Google Shape;252;p25"/>
          <p:cNvSpPr/>
          <p:nvPr/>
        </p:nvSpPr>
        <p:spPr>
          <a:xfrm rot="5400000">
            <a:off x="6538432" y="372637"/>
            <a:ext cx="210900" cy="1071600"/>
          </a:xfrm>
          <a:prstGeom prst="rect">
            <a:avLst/>
          </a:prstGeom>
          <a:solidFill>
            <a:schemeClr val="accent5"/>
          </a:solidFill>
          <a:ln>
            <a:noFill/>
          </a:ln>
        </p:spPr>
        <p:txBody>
          <a:bodyPr anchorCtr="0" anchor="ctr" bIns="72175" lIns="72175" spcFirstLastPara="1" rIns="72175" wrap="square" tIns="72175">
            <a:noAutofit/>
          </a:bodyPr>
          <a:lstStyle/>
          <a:p>
            <a:pPr indent="0" lvl="0" marL="0" rtl="0" algn="ctr">
              <a:spcBef>
                <a:spcPts val="0"/>
              </a:spcBef>
              <a:spcAft>
                <a:spcPts val="0"/>
              </a:spcAft>
              <a:buNone/>
            </a:pPr>
            <a:r>
              <a:t/>
            </a:r>
            <a:endParaRPr sz="1105"/>
          </a:p>
        </p:txBody>
      </p:sp>
      <p:sp>
        <p:nvSpPr>
          <p:cNvPr id="253" name="Google Shape;253;p25"/>
          <p:cNvSpPr txBox="1"/>
          <p:nvPr/>
        </p:nvSpPr>
        <p:spPr>
          <a:xfrm>
            <a:off x="5975036" y="812698"/>
            <a:ext cx="1337700" cy="191700"/>
          </a:xfrm>
          <a:prstGeom prst="rect">
            <a:avLst/>
          </a:prstGeom>
          <a:noFill/>
          <a:ln>
            <a:noFill/>
          </a:ln>
        </p:spPr>
        <p:txBody>
          <a:bodyPr anchorCtr="0" anchor="ctr" bIns="72175" lIns="72175" spcFirstLastPara="1" rIns="72175" wrap="square" tIns="72175">
            <a:noAutofit/>
          </a:bodyPr>
          <a:lstStyle/>
          <a:p>
            <a:pPr indent="0" lvl="0" marL="0" rtl="0" algn="ctr">
              <a:spcBef>
                <a:spcPts val="0"/>
              </a:spcBef>
              <a:spcAft>
                <a:spcPts val="0"/>
              </a:spcAft>
              <a:buNone/>
            </a:pPr>
            <a:r>
              <a:rPr lang="en" sz="1105">
                <a:solidFill>
                  <a:schemeClr val="lt1"/>
                </a:solidFill>
                <a:latin typeface="JetBrains Mono ExtraBold"/>
                <a:ea typeface="JetBrains Mono ExtraBold"/>
                <a:cs typeface="JetBrains Mono ExtraBold"/>
                <a:sym typeface="JetBrains Mono ExtraBold"/>
              </a:rPr>
              <a:t>Figure 3C</a:t>
            </a:r>
            <a:endParaRPr sz="1105">
              <a:solidFill>
                <a:schemeClr val="lt1"/>
              </a:solidFill>
              <a:latin typeface="JetBrains Mono ExtraBold"/>
              <a:ea typeface="JetBrains Mono ExtraBold"/>
              <a:cs typeface="JetBrains Mono ExtraBold"/>
              <a:sym typeface="JetBrains Mono ExtraBold"/>
            </a:endParaRPr>
          </a:p>
        </p:txBody>
      </p:sp>
      <p:sp>
        <p:nvSpPr>
          <p:cNvPr id="254" name="Google Shape;254;p25"/>
          <p:cNvSpPr txBox="1"/>
          <p:nvPr/>
        </p:nvSpPr>
        <p:spPr>
          <a:xfrm>
            <a:off x="7179677" y="802985"/>
            <a:ext cx="1431300" cy="210900"/>
          </a:xfrm>
          <a:prstGeom prst="rect">
            <a:avLst/>
          </a:prstGeom>
          <a:noFill/>
          <a:ln>
            <a:noFill/>
          </a:ln>
        </p:spPr>
        <p:txBody>
          <a:bodyPr anchorCtr="0" anchor="ctr" bIns="72175" lIns="72175" spcFirstLastPara="1" rIns="72175" wrap="square" tIns="72175">
            <a:noAutofit/>
          </a:bodyPr>
          <a:lstStyle/>
          <a:p>
            <a:pPr indent="0" lvl="0" marL="0" rtl="0" algn="l">
              <a:spcBef>
                <a:spcPts val="0"/>
              </a:spcBef>
              <a:spcAft>
                <a:spcPts val="0"/>
              </a:spcAft>
              <a:buNone/>
            </a:pPr>
            <a:r>
              <a:rPr lang="en" sz="1105">
                <a:solidFill>
                  <a:srgbClr val="434343"/>
                </a:solidFill>
                <a:latin typeface="JetBrains Mono"/>
                <a:ea typeface="JetBrains Mono"/>
                <a:cs typeface="JetBrains Mono"/>
                <a:sym typeface="JetBrains Mono"/>
              </a:rPr>
              <a:t>Patricia Garcia</a:t>
            </a:r>
            <a:endParaRPr sz="1105">
              <a:solidFill>
                <a:srgbClr val="434343"/>
              </a:solidFill>
              <a:latin typeface="JetBrains Mono"/>
              <a:ea typeface="JetBrains Mono"/>
              <a:cs typeface="JetBrains Mono"/>
              <a:sym typeface="JetBrains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6"/>
          <p:cNvSpPr txBox="1"/>
          <p:nvPr/>
        </p:nvSpPr>
        <p:spPr>
          <a:xfrm>
            <a:off x="216850" y="120725"/>
            <a:ext cx="7727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2"/>
                </a:solidFill>
                <a:latin typeface="JetBrains Mono"/>
                <a:ea typeface="JetBrains Mono"/>
                <a:cs typeface="JetBrains Mono"/>
                <a:sym typeface="JetBrains Mono"/>
              </a:rPr>
              <a:t>Conclusions</a:t>
            </a:r>
            <a:endParaRPr b="1" sz="2400">
              <a:solidFill>
                <a:schemeClr val="dk2"/>
              </a:solidFill>
              <a:latin typeface="JetBrains Mono"/>
              <a:ea typeface="JetBrains Mono"/>
              <a:cs typeface="JetBrains Mono"/>
              <a:sym typeface="JetBrains Mono"/>
            </a:endParaRPr>
          </a:p>
        </p:txBody>
      </p:sp>
      <p:sp>
        <p:nvSpPr>
          <p:cNvPr id="260" name="Google Shape;260;p26"/>
          <p:cNvSpPr/>
          <p:nvPr/>
        </p:nvSpPr>
        <p:spPr>
          <a:xfrm>
            <a:off x="450656" y="823350"/>
            <a:ext cx="4040100" cy="9714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26"/>
          <p:cNvSpPr/>
          <p:nvPr/>
        </p:nvSpPr>
        <p:spPr>
          <a:xfrm>
            <a:off x="4928357" y="823350"/>
            <a:ext cx="4040100" cy="9714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26"/>
          <p:cNvSpPr/>
          <p:nvPr/>
        </p:nvSpPr>
        <p:spPr>
          <a:xfrm>
            <a:off x="175538" y="823350"/>
            <a:ext cx="275100" cy="97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6"/>
          <p:cNvSpPr/>
          <p:nvPr/>
        </p:nvSpPr>
        <p:spPr>
          <a:xfrm>
            <a:off x="4653363" y="823350"/>
            <a:ext cx="275100" cy="971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6"/>
          <p:cNvSpPr txBox="1"/>
          <p:nvPr/>
        </p:nvSpPr>
        <p:spPr>
          <a:xfrm>
            <a:off x="450663" y="848401"/>
            <a:ext cx="4040100" cy="921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Infant microbiomes develop along lifestyle-associated trajectories, diverging w/i the first 6 months of life in industrialized populations</a:t>
            </a:r>
            <a:endParaRPr sz="1200">
              <a:solidFill>
                <a:schemeClr val="dk2"/>
              </a:solidFill>
              <a:latin typeface="JetBrains Mono"/>
              <a:ea typeface="JetBrains Mono"/>
              <a:cs typeface="JetBrains Mono"/>
              <a:sym typeface="JetBrains Mono"/>
            </a:endParaRPr>
          </a:p>
        </p:txBody>
      </p:sp>
      <p:sp>
        <p:nvSpPr>
          <p:cNvPr id="265" name="Google Shape;265;p26"/>
          <p:cNvSpPr/>
          <p:nvPr/>
        </p:nvSpPr>
        <p:spPr>
          <a:xfrm>
            <a:off x="450656" y="1999682"/>
            <a:ext cx="4040100" cy="9714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26"/>
          <p:cNvSpPr/>
          <p:nvPr/>
        </p:nvSpPr>
        <p:spPr>
          <a:xfrm>
            <a:off x="4928357" y="1999682"/>
            <a:ext cx="4040100" cy="9714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26"/>
          <p:cNvSpPr/>
          <p:nvPr/>
        </p:nvSpPr>
        <p:spPr>
          <a:xfrm>
            <a:off x="175663" y="1999675"/>
            <a:ext cx="275100" cy="971400"/>
          </a:xfrm>
          <a:prstGeom prst="rect">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26"/>
          <p:cNvSpPr/>
          <p:nvPr/>
        </p:nvSpPr>
        <p:spPr>
          <a:xfrm>
            <a:off x="4653388" y="1999675"/>
            <a:ext cx="275100" cy="971400"/>
          </a:xfrm>
          <a:prstGeom prst="rect">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6"/>
          <p:cNvSpPr/>
          <p:nvPr/>
        </p:nvSpPr>
        <p:spPr>
          <a:xfrm>
            <a:off x="450656" y="3157582"/>
            <a:ext cx="4040100" cy="9642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6"/>
          <p:cNvSpPr/>
          <p:nvPr/>
        </p:nvSpPr>
        <p:spPr>
          <a:xfrm>
            <a:off x="4928357" y="3157582"/>
            <a:ext cx="4040100" cy="964200"/>
          </a:xfrm>
          <a:prstGeom prst="rect">
            <a:avLst/>
          </a:prstGeom>
          <a:solidFill>
            <a:schemeClr val="lt1"/>
          </a:solidFill>
          <a:ln cap="flat" cmpd="sng" w="9525">
            <a:solidFill>
              <a:schemeClr val="lt1"/>
            </a:solidFill>
            <a:prstDash val="solid"/>
            <a:round/>
            <a:headEnd len="sm" w="sm" type="none"/>
            <a:tailEnd len="sm" w="sm" type="none"/>
          </a:ln>
          <a:effectLst>
            <a:outerShdw blurRad="328613" rotWithShape="0" algn="bl" dir="3840000" dist="104775">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26"/>
          <p:cNvSpPr/>
          <p:nvPr/>
        </p:nvSpPr>
        <p:spPr>
          <a:xfrm>
            <a:off x="175663" y="3157575"/>
            <a:ext cx="275100" cy="964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26"/>
          <p:cNvSpPr/>
          <p:nvPr/>
        </p:nvSpPr>
        <p:spPr>
          <a:xfrm>
            <a:off x="4653388" y="3157575"/>
            <a:ext cx="275100" cy="9642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26"/>
          <p:cNvSpPr txBox="1"/>
          <p:nvPr/>
        </p:nvSpPr>
        <p:spPr>
          <a:xfrm>
            <a:off x="4928363" y="823351"/>
            <a:ext cx="4040100" cy="971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23.4% of species in Hadza infant guts are novel, and the infant gut harbors extensive uncharacterized diversity</a:t>
            </a:r>
            <a:endParaRPr sz="1200">
              <a:solidFill>
                <a:schemeClr val="dk2"/>
              </a:solidFill>
              <a:latin typeface="JetBrains Mono"/>
              <a:ea typeface="JetBrains Mono"/>
              <a:cs typeface="JetBrains Mono"/>
              <a:sym typeface="JetBrains Mono"/>
            </a:endParaRPr>
          </a:p>
        </p:txBody>
      </p:sp>
      <p:sp>
        <p:nvSpPr>
          <p:cNvPr id="274" name="Google Shape;274;p26"/>
          <p:cNvSpPr txBox="1"/>
          <p:nvPr/>
        </p:nvSpPr>
        <p:spPr>
          <a:xfrm>
            <a:off x="4928363" y="1999675"/>
            <a:ext cx="4040100" cy="971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310 VANISH species lost vs. only 12 BloSSUM species gained, so more diversity is lost than gained with industrialization</a:t>
            </a:r>
            <a:endParaRPr sz="1200">
              <a:solidFill>
                <a:schemeClr val="dk2"/>
              </a:solidFill>
              <a:latin typeface="JetBrains Mono"/>
              <a:ea typeface="JetBrains Mono"/>
              <a:cs typeface="JetBrains Mono"/>
              <a:sym typeface="JetBrains Mono"/>
            </a:endParaRPr>
          </a:p>
        </p:txBody>
      </p:sp>
      <p:sp>
        <p:nvSpPr>
          <p:cNvPr id="275" name="Google Shape;275;p26"/>
          <p:cNvSpPr txBox="1"/>
          <p:nvPr/>
        </p:nvSpPr>
        <p:spPr>
          <a:xfrm>
            <a:off x="450663" y="2004325"/>
            <a:ext cx="4040100" cy="971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i="1" lang="en" sz="1200">
                <a:solidFill>
                  <a:schemeClr val="dk2"/>
                </a:solidFill>
                <a:latin typeface="JetBrains Mono"/>
                <a:ea typeface="JetBrains Mono"/>
                <a:cs typeface="JetBrains Mono"/>
                <a:sym typeface="JetBrains Mono"/>
              </a:rPr>
              <a:t>B. infantis</a:t>
            </a:r>
            <a:r>
              <a:rPr lang="en" sz="1200">
                <a:solidFill>
                  <a:schemeClr val="dk2"/>
                </a:solidFill>
                <a:latin typeface="JetBrains Mono"/>
                <a:ea typeface="JetBrains Mono"/>
                <a:cs typeface="JetBrains Mono"/>
                <a:sym typeface="JetBrains Mono"/>
              </a:rPr>
              <a:t> and HMO-utilization gene clusters are depleted in industrialized infants, even breastfed ones; and this could impact immune development</a:t>
            </a:r>
            <a:endParaRPr sz="1200">
              <a:solidFill>
                <a:schemeClr val="dk2"/>
              </a:solidFill>
              <a:latin typeface="JetBrains Mono"/>
              <a:ea typeface="JetBrains Mono"/>
              <a:cs typeface="JetBrains Mono"/>
              <a:sym typeface="JetBrains Mono"/>
            </a:endParaRPr>
          </a:p>
        </p:txBody>
      </p:sp>
      <p:sp>
        <p:nvSpPr>
          <p:cNvPr id="276" name="Google Shape;276;p26"/>
          <p:cNvSpPr txBox="1"/>
          <p:nvPr/>
        </p:nvSpPr>
        <p:spPr>
          <a:xfrm>
            <a:off x="450663" y="3172246"/>
            <a:ext cx="4040100" cy="956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2"/>
                </a:solidFill>
                <a:latin typeface="JetBrains Mono"/>
                <a:ea typeface="JetBrains Mono"/>
                <a:cs typeface="JetBrains Mono"/>
                <a:sym typeface="JetBrains Mono"/>
              </a:rPr>
              <a:t>Vertical transmission is lifestyle-specific, as taxa that differentiate lifestyles are those most commonly shared between mother-infant dyads</a:t>
            </a:r>
            <a:endParaRPr sz="1100">
              <a:solidFill>
                <a:schemeClr val="dk2"/>
              </a:solidFill>
              <a:latin typeface="JetBrains Mono"/>
              <a:ea typeface="JetBrains Mono"/>
              <a:cs typeface="JetBrains Mono"/>
              <a:sym typeface="JetBrains Mono"/>
            </a:endParaRPr>
          </a:p>
        </p:txBody>
      </p:sp>
      <p:sp>
        <p:nvSpPr>
          <p:cNvPr id="277" name="Google Shape;277;p26"/>
          <p:cNvSpPr txBox="1"/>
          <p:nvPr/>
        </p:nvSpPr>
        <p:spPr>
          <a:xfrm>
            <a:off x="4928360" y="3164841"/>
            <a:ext cx="4040100" cy="964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2"/>
                </a:solidFill>
                <a:latin typeface="JetBrains Mono"/>
                <a:ea typeface="JetBrains Mono"/>
                <a:cs typeface="JetBrains Mono"/>
                <a:sym typeface="JetBrains Mono"/>
              </a:rPr>
              <a:t>Transitional populations show intermediate phenotypes, supporting lifestyle (not just geography) as a causative factor in microbiome assembly</a:t>
            </a:r>
            <a:endParaRPr sz="1200">
              <a:solidFill>
                <a:schemeClr val="dk2"/>
              </a:solidFill>
              <a:latin typeface="JetBrains Mono"/>
              <a:ea typeface="JetBrains Mono"/>
              <a:cs typeface="JetBrains Mono"/>
              <a:sym typeface="JetBrains Mono"/>
            </a:endParaRPr>
          </a:p>
        </p:txBody>
      </p:sp>
      <p:sp>
        <p:nvSpPr>
          <p:cNvPr id="278" name="Google Shape;278;p26"/>
          <p:cNvSpPr/>
          <p:nvPr/>
        </p:nvSpPr>
        <p:spPr>
          <a:xfrm rot="5400000">
            <a:off x="4401525" y="397350"/>
            <a:ext cx="351600" cy="915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26"/>
          <p:cNvSpPr txBox="1"/>
          <p:nvPr/>
        </p:nvSpPr>
        <p:spPr>
          <a:xfrm>
            <a:off x="3878650" y="4759350"/>
            <a:ext cx="526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JetBrains Mono"/>
                <a:ea typeface="JetBrains Mono"/>
                <a:cs typeface="JetBrains Mono"/>
                <a:sym typeface="JetBrains Mono"/>
              </a:rPr>
              <a:t>Olm et al., Science 376, 1220-1223 (2022)</a:t>
            </a:r>
            <a:endParaRPr sz="1600">
              <a:solidFill>
                <a:schemeClr val="lt2"/>
              </a:solidFill>
              <a:latin typeface="JetBrains Mono"/>
              <a:ea typeface="JetBrains Mono"/>
              <a:cs typeface="JetBrains Mono"/>
              <a:sym typeface="JetBrains Mono"/>
            </a:endParaRPr>
          </a:p>
        </p:txBody>
      </p:sp>
      <p:sp>
        <p:nvSpPr>
          <p:cNvPr id="280" name="Google Shape;280;p26"/>
          <p:cNvSpPr txBox="1"/>
          <p:nvPr/>
        </p:nvSpPr>
        <p:spPr>
          <a:xfrm>
            <a:off x="141325" y="777628"/>
            <a:ext cx="343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lt1"/>
                </a:solidFill>
                <a:latin typeface="JetBrains Mono ExtraBold"/>
                <a:ea typeface="JetBrains Mono ExtraBold"/>
                <a:cs typeface="JetBrains Mono ExtraBold"/>
                <a:sym typeface="JetBrains Mono ExtraBold"/>
              </a:rPr>
              <a:t>1</a:t>
            </a:r>
            <a:endParaRPr sz="1700">
              <a:solidFill>
                <a:schemeClr val="lt1"/>
              </a:solidFill>
              <a:latin typeface="JetBrains Mono ExtraBold"/>
              <a:ea typeface="JetBrains Mono ExtraBold"/>
              <a:cs typeface="JetBrains Mono ExtraBold"/>
              <a:sym typeface="JetBrains Mono ExtraBold"/>
            </a:endParaRPr>
          </a:p>
        </p:txBody>
      </p:sp>
      <p:sp>
        <p:nvSpPr>
          <p:cNvPr id="281" name="Google Shape;281;p26"/>
          <p:cNvSpPr txBox="1"/>
          <p:nvPr/>
        </p:nvSpPr>
        <p:spPr>
          <a:xfrm>
            <a:off x="4619025" y="777628"/>
            <a:ext cx="343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lt1"/>
                </a:solidFill>
                <a:latin typeface="JetBrains Mono ExtraBold"/>
                <a:ea typeface="JetBrains Mono ExtraBold"/>
                <a:cs typeface="JetBrains Mono ExtraBold"/>
                <a:sym typeface="JetBrains Mono ExtraBold"/>
              </a:rPr>
              <a:t>2</a:t>
            </a:r>
            <a:endParaRPr sz="1700">
              <a:solidFill>
                <a:schemeClr val="lt1"/>
              </a:solidFill>
              <a:latin typeface="JetBrains Mono ExtraBold"/>
              <a:ea typeface="JetBrains Mono ExtraBold"/>
              <a:cs typeface="JetBrains Mono ExtraBold"/>
              <a:sym typeface="JetBrains Mono ExtraBold"/>
            </a:endParaRPr>
          </a:p>
        </p:txBody>
      </p:sp>
      <p:sp>
        <p:nvSpPr>
          <p:cNvPr id="282" name="Google Shape;282;p26"/>
          <p:cNvSpPr txBox="1"/>
          <p:nvPr/>
        </p:nvSpPr>
        <p:spPr>
          <a:xfrm>
            <a:off x="141200" y="1943278"/>
            <a:ext cx="343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lt1"/>
                </a:solidFill>
                <a:latin typeface="JetBrains Mono ExtraBold"/>
                <a:ea typeface="JetBrains Mono ExtraBold"/>
                <a:cs typeface="JetBrains Mono ExtraBold"/>
                <a:sym typeface="JetBrains Mono ExtraBold"/>
              </a:rPr>
              <a:t>3</a:t>
            </a:r>
            <a:endParaRPr sz="1700">
              <a:solidFill>
                <a:schemeClr val="lt1"/>
              </a:solidFill>
              <a:latin typeface="JetBrains Mono ExtraBold"/>
              <a:ea typeface="JetBrains Mono ExtraBold"/>
              <a:cs typeface="JetBrains Mono ExtraBold"/>
              <a:sym typeface="JetBrains Mono ExtraBold"/>
            </a:endParaRPr>
          </a:p>
        </p:txBody>
      </p:sp>
      <p:sp>
        <p:nvSpPr>
          <p:cNvPr id="283" name="Google Shape;283;p26"/>
          <p:cNvSpPr txBox="1"/>
          <p:nvPr/>
        </p:nvSpPr>
        <p:spPr>
          <a:xfrm>
            <a:off x="4619025" y="1943278"/>
            <a:ext cx="343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lt1"/>
                </a:solidFill>
                <a:latin typeface="JetBrains Mono ExtraBold"/>
                <a:ea typeface="JetBrains Mono ExtraBold"/>
                <a:cs typeface="JetBrains Mono ExtraBold"/>
                <a:sym typeface="JetBrains Mono ExtraBold"/>
              </a:rPr>
              <a:t>4</a:t>
            </a:r>
            <a:endParaRPr sz="1700">
              <a:solidFill>
                <a:schemeClr val="lt1"/>
              </a:solidFill>
              <a:latin typeface="JetBrains Mono ExtraBold"/>
              <a:ea typeface="JetBrains Mono ExtraBold"/>
              <a:cs typeface="JetBrains Mono ExtraBold"/>
              <a:sym typeface="JetBrains Mono ExtraBold"/>
            </a:endParaRPr>
          </a:p>
        </p:txBody>
      </p:sp>
      <p:sp>
        <p:nvSpPr>
          <p:cNvPr id="284" name="Google Shape;284;p26"/>
          <p:cNvSpPr txBox="1"/>
          <p:nvPr/>
        </p:nvSpPr>
        <p:spPr>
          <a:xfrm>
            <a:off x="141200" y="3096057"/>
            <a:ext cx="343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lt1"/>
                </a:solidFill>
                <a:latin typeface="JetBrains Mono ExtraBold"/>
                <a:ea typeface="JetBrains Mono ExtraBold"/>
                <a:cs typeface="JetBrains Mono ExtraBold"/>
                <a:sym typeface="JetBrains Mono ExtraBold"/>
              </a:rPr>
              <a:t>5</a:t>
            </a:r>
            <a:endParaRPr sz="1700">
              <a:solidFill>
                <a:schemeClr val="lt1"/>
              </a:solidFill>
              <a:latin typeface="JetBrains Mono ExtraBold"/>
              <a:ea typeface="JetBrains Mono ExtraBold"/>
              <a:cs typeface="JetBrains Mono ExtraBold"/>
              <a:sym typeface="JetBrains Mono ExtraBold"/>
            </a:endParaRPr>
          </a:p>
        </p:txBody>
      </p:sp>
      <p:sp>
        <p:nvSpPr>
          <p:cNvPr id="285" name="Google Shape;285;p26"/>
          <p:cNvSpPr txBox="1"/>
          <p:nvPr/>
        </p:nvSpPr>
        <p:spPr>
          <a:xfrm>
            <a:off x="4619050" y="3089624"/>
            <a:ext cx="343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lt1"/>
                </a:solidFill>
                <a:latin typeface="JetBrains Mono ExtraBold"/>
                <a:ea typeface="JetBrains Mono ExtraBold"/>
                <a:cs typeface="JetBrains Mono ExtraBold"/>
                <a:sym typeface="JetBrains Mono ExtraBold"/>
              </a:rPr>
              <a:t>6</a:t>
            </a:r>
            <a:endParaRPr sz="1700">
              <a:solidFill>
                <a:schemeClr val="lt1"/>
              </a:solidFill>
              <a:latin typeface="JetBrains Mono ExtraBold"/>
              <a:ea typeface="JetBrains Mono ExtraBold"/>
              <a:cs typeface="JetBrains Mono ExtraBold"/>
              <a:sym typeface="JetBrains Mono Extra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7"/>
          <p:cNvSpPr/>
          <p:nvPr/>
        </p:nvSpPr>
        <p:spPr>
          <a:xfrm>
            <a:off x="2172088" y="238218"/>
            <a:ext cx="4212900" cy="415200"/>
          </a:xfrm>
          <a:prstGeom prst="rect">
            <a:avLst/>
          </a:prstGeom>
          <a:solidFill>
            <a:srgbClr val="0097A7">
              <a:alpha val="145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27"/>
          <p:cNvSpPr/>
          <p:nvPr/>
        </p:nvSpPr>
        <p:spPr>
          <a:xfrm rot="5400000">
            <a:off x="976887" y="-541034"/>
            <a:ext cx="415200" cy="1975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27"/>
          <p:cNvSpPr txBox="1"/>
          <p:nvPr/>
        </p:nvSpPr>
        <p:spPr>
          <a:xfrm>
            <a:off x="196637" y="184218"/>
            <a:ext cx="1975200" cy="50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Question 1</a:t>
            </a:r>
            <a:endParaRPr sz="2100">
              <a:solidFill>
                <a:schemeClr val="lt1"/>
              </a:solidFill>
              <a:latin typeface="JetBrains Mono ExtraBold"/>
              <a:ea typeface="JetBrains Mono ExtraBold"/>
              <a:cs typeface="JetBrains Mono ExtraBold"/>
              <a:sym typeface="JetBrains Mono ExtraBold"/>
            </a:endParaRPr>
          </a:p>
        </p:txBody>
      </p:sp>
      <p:sp>
        <p:nvSpPr>
          <p:cNvPr id="293" name="Google Shape;293;p27"/>
          <p:cNvSpPr txBox="1"/>
          <p:nvPr/>
        </p:nvSpPr>
        <p:spPr>
          <a:xfrm>
            <a:off x="2174608" y="192618"/>
            <a:ext cx="4212900" cy="50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rgbClr val="434343"/>
                </a:solidFill>
                <a:latin typeface="JetBrains Mono"/>
                <a:ea typeface="JetBrains Mono"/>
                <a:cs typeface="JetBrains Mono"/>
                <a:sym typeface="JetBrains Mono"/>
              </a:rPr>
              <a:t>Bianca Goncalves da Costa</a:t>
            </a:r>
            <a:endParaRPr sz="2100">
              <a:solidFill>
                <a:srgbClr val="434343"/>
              </a:solidFill>
              <a:latin typeface="JetBrains Mono"/>
              <a:ea typeface="JetBrains Mono"/>
              <a:cs typeface="JetBrains Mono"/>
              <a:sym typeface="JetBrains Mono"/>
            </a:endParaRPr>
          </a:p>
        </p:txBody>
      </p:sp>
      <p:sp>
        <p:nvSpPr>
          <p:cNvPr id="294" name="Google Shape;294;p27"/>
          <p:cNvSpPr/>
          <p:nvPr/>
        </p:nvSpPr>
        <p:spPr>
          <a:xfrm>
            <a:off x="2934338" y="1003868"/>
            <a:ext cx="2602200" cy="415200"/>
          </a:xfrm>
          <a:prstGeom prst="rect">
            <a:avLst/>
          </a:prstGeom>
          <a:solidFill>
            <a:srgbClr val="0097A7">
              <a:alpha val="145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27"/>
          <p:cNvSpPr/>
          <p:nvPr/>
        </p:nvSpPr>
        <p:spPr>
          <a:xfrm rot="5400000">
            <a:off x="1739137" y="224616"/>
            <a:ext cx="415200" cy="1975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7"/>
          <p:cNvSpPr txBox="1"/>
          <p:nvPr/>
        </p:nvSpPr>
        <p:spPr>
          <a:xfrm>
            <a:off x="958887" y="949868"/>
            <a:ext cx="1975200" cy="50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Question 2</a:t>
            </a:r>
            <a:endParaRPr sz="2100">
              <a:solidFill>
                <a:schemeClr val="lt1"/>
              </a:solidFill>
              <a:latin typeface="JetBrains Mono ExtraBold"/>
              <a:ea typeface="JetBrains Mono ExtraBold"/>
              <a:cs typeface="JetBrains Mono ExtraBold"/>
              <a:sym typeface="JetBrains Mono ExtraBold"/>
            </a:endParaRPr>
          </a:p>
        </p:txBody>
      </p:sp>
      <p:sp>
        <p:nvSpPr>
          <p:cNvPr id="297" name="Google Shape;297;p27"/>
          <p:cNvSpPr txBox="1"/>
          <p:nvPr/>
        </p:nvSpPr>
        <p:spPr>
          <a:xfrm>
            <a:off x="2935894" y="958268"/>
            <a:ext cx="2602200" cy="50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rgbClr val="434343"/>
                </a:solidFill>
                <a:latin typeface="JetBrains Mono"/>
                <a:ea typeface="JetBrains Mono"/>
                <a:cs typeface="JetBrains Mono"/>
                <a:sym typeface="JetBrains Mono"/>
              </a:rPr>
              <a:t>Alexander Jones</a:t>
            </a:r>
            <a:endParaRPr sz="2100">
              <a:solidFill>
                <a:srgbClr val="434343"/>
              </a:solidFill>
              <a:latin typeface="JetBrains Mono"/>
              <a:ea typeface="JetBrains Mono"/>
              <a:cs typeface="JetBrains Mono"/>
              <a:sym typeface="JetBrains Mono"/>
            </a:endParaRPr>
          </a:p>
        </p:txBody>
      </p:sp>
      <p:sp>
        <p:nvSpPr>
          <p:cNvPr id="298" name="Google Shape;298;p27"/>
          <p:cNvSpPr/>
          <p:nvPr/>
        </p:nvSpPr>
        <p:spPr>
          <a:xfrm>
            <a:off x="3696588" y="1769518"/>
            <a:ext cx="1974000" cy="415200"/>
          </a:xfrm>
          <a:prstGeom prst="rect">
            <a:avLst/>
          </a:prstGeom>
          <a:solidFill>
            <a:srgbClr val="0097A7">
              <a:alpha val="145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27"/>
          <p:cNvSpPr/>
          <p:nvPr/>
        </p:nvSpPr>
        <p:spPr>
          <a:xfrm rot="5400000">
            <a:off x="2501387" y="990266"/>
            <a:ext cx="415200" cy="1975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27"/>
          <p:cNvSpPr txBox="1"/>
          <p:nvPr/>
        </p:nvSpPr>
        <p:spPr>
          <a:xfrm>
            <a:off x="1721137" y="1715518"/>
            <a:ext cx="1975200" cy="50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Question 3</a:t>
            </a:r>
            <a:endParaRPr sz="2100">
              <a:solidFill>
                <a:schemeClr val="lt1"/>
              </a:solidFill>
              <a:latin typeface="JetBrains Mono ExtraBold"/>
              <a:ea typeface="JetBrains Mono ExtraBold"/>
              <a:cs typeface="JetBrains Mono ExtraBold"/>
              <a:sym typeface="JetBrains Mono ExtraBold"/>
            </a:endParaRPr>
          </a:p>
        </p:txBody>
      </p:sp>
      <p:sp>
        <p:nvSpPr>
          <p:cNvPr id="301" name="Google Shape;301;p27"/>
          <p:cNvSpPr txBox="1"/>
          <p:nvPr/>
        </p:nvSpPr>
        <p:spPr>
          <a:xfrm>
            <a:off x="3697769" y="1723918"/>
            <a:ext cx="1974000" cy="50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rgbClr val="434343"/>
                </a:solidFill>
                <a:latin typeface="JetBrains Mono"/>
                <a:ea typeface="JetBrains Mono"/>
                <a:cs typeface="JetBrains Mono"/>
                <a:sym typeface="JetBrains Mono"/>
              </a:rPr>
              <a:t>Ally Mujica</a:t>
            </a:r>
            <a:endParaRPr sz="2100">
              <a:solidFill>
                <a:srgbClr val="434343"/>
              </a:solidFill>
              <a:latin typeface="JetBrains Mono"/>
              <a:ea typeface="JetBrains Mono"/>
              <a:cs typeface="JetBrains Mono"/>
              <a:sym typeface="JetBrains Mono"/>
            </a:endParaRPr>
          </a:p>
        </p:txBody>
      </p:sp>
      <p:sp>
        <p:nvSpPr>
          <p:cNvPr id="302" name="Google Shape;302;p27"/>
          <p:cNvSpPr/>
          <p:nvPr/>
        </p:nvSpPr>
        <p:spPr>
          <a:xfrm>
            <a:off x="5392038" y="2535168"/>
            <a:ext cx="3553200" cy="415200"/>
          </a:xfrm>
          <a:prstGeom prst="rect">
            <a:avLst/>
          </a:prstGeom>
          <a:solidFill>
            <a:srgbClr val="0097A7">
              <a:alpha val="145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27"/>
          <p:cNvSpPr/>
          <p:nvPr/>
        </p:nvSpPr>
        <p:spPr>
          <a:xfrm rot="5400000">
            <a:off x="3729733" y="1288816"/>
            <a:ext cx="415200" cy="2909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27"/>
          <p:cNvSpPr txBox="1"/>
          <p:nvPr/>
        </p:nvSpPr>
        <p:spPr>
          <a:xfrm>
            <a:off x="2482742" y="2481168"/>
            <a:ext cx="2909400" cy="50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Methods Critique</a:t>
            </a:r>
            <a:endParaRPr sz="2100">
              <a:solidFill>
                <a:schemeClr val="lt1"/>
              </a:solidFill>
              <a:latin typeface="JetBrains Mono ExtraBold"/>
              <a:ea typeface="JetBrains Mono ExtraBold"/>
              <a:cs typeface="JetBrains Mono ExtraBold"/>
              <a:sym typeface="JetBrains Mono ExtraBold"/>
            </a:endParaRPr>
          </a:p>
        </p:txBody>
      </p:sp>
      <p:sp>
        <p:nvSpPr>
          <p:cNvPr id="305" name="Google Shape;305;p27"/>
          <p:cNvSpPr txBox="1"/>
          <p:nvPr/>
        </p:nvSpPr>
        <p:spPr>
          <a:xfrm>
            <a:off x="5394164" y="2489568"/>
            <a:ext cx="3553200" cy="50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rgbClr val="434343"/>
                </a:solidFill>
                <a:latin typeface="JetBrains Mono"/>
                <a:ea typeface="JetBrains Mono"/>
                <a:cs typeface="JetBrains Mono"/>
                <a:sym typeface="JetBrains Mono"/>
              </a:rPr>
              <a:t>Eliud Rivas Hernandez</a:t>
            </a:r>
            <a:endParaRPr sz="2100">
              <a:solidFill>
                <a:srgbClr val="434343"/>
              </a:solidFill>
              <a:latin typeface="JetBrains Mono"/>
              <a:ea typeface="JetBrains Mono"/>
              <a:cs typeface="JetBrains Mono"/>
              <a:sym typeface="JetBrains Mono"/>
            </a:endParaRPr>
          </a:p>
        </p:txBody>
      </p:sp>
      <p:sp>
        <p:nvSpPr>
          <p:cNvPr id="306" name="Google Shape;306;p27"/>
          <p:cNvSpPr/>
          <p:nvPr/>
        </p:nvSpPr>
        <p:spPr>
          <a:xfrm>
            <a:off x="6580363" y="3309218"/>
            <a:ext cx="1974000" cy="415200"/>
          </a:xfrm>
          <a:prstGeom prst="rect">
            <a:avLst/>
          </a:prstGeom>
          <a:solidFill>
            <a:srgbClr val="0097A7">
              <a:alpha val="145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 name="Google Shape;307;p27"/>
          <p:cNvSpPr/>
          <p:nvPr/>
        </p:nvSpPr>
        <p:spPr>
          <a:xfrm rot="5400000">
            <a:off x="4705513" y="1850316"/>
            <a:ext cx="415200" cy="3334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 name="Google Shape;308;p27"/>
          <p:cNvSpPr txBox="1"/>
          <p:nvPr/>
        </p:nvSpPr>
        <p:spPr>
          <a:xfrm>
            <a:off x="3245388" y="3255218"/>
            <a:ext cx="3334500" cy="50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Additional Analysis</a:t>
            </a:r>
            <a:endParaRPr sz="2100">
              <a:solidFill>
                <a:schemeClr val="lt1"/>
              </a:solidFill>
              <a:latin typeface="JetBrains Mono ExtraBold"/>
              <a:ea typeface="JetBrains Mono ExtraBold"/>
              <a:cs typeface="JetBrains Mono ExtraBold"/>
              <a:sym typeface="JetBrains Mono ExtraBold"/>
            </a:endParaRPr>
          </a:p>
        </p:txBody>
      </p:sp>
      <p:sp>
        <p:nvSpPr>
          <p:cNvPr id="309" name="Google Shape;309;p27"/>
          <p:cNvSpPr txBox="1"/>
          <p:nvPr/>
        </p:nvSpPr>
        <p:spPr>
          <a:xfrm>
            <a:off x="6581544" y="3263618"/>
            <a:ext cx="1974000" cy="50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rgbClr val="434343"/>
                </a:solidFill>
                <a:latin typeface="JetBrains Mono"/>
                <a:ea typeface="JetBrains Mono"/>
                <a:cs typeface="JetBrains Mono"/>
                <a:sym typeface="JetBrains Mono"/>
              </a:rPr>
              <a:t>Ally Mujica</a:t>
            </a:r>
            <a:endParaRPr sz="2100">
              <a:solidFill>
                <a:srgbClr val="434343"/>
              </a:solidFill>
              <a:latin typeface="JetBrains Mono"/>
              <a:ea typeface="JetBrains Mono"/>
              <a:cs typeface="JetBrains Mono"/>
              <a:sym typeface="JetBrains Mono"/>
            </a:endParaRPr>
          </a:p>
        </p:txBody>
      </p:sp>
      <p:sp>
        <p:nvSpPr>
          <p:cNvPr id="310" name="Google Shape;310;p27"/>
          <p:cNvSpPr/>
          <p:nvPr/>
        </p:nvSpPr>
        <p:spPr>
          <a:xfrm>
            <a:off x="6421113" y="4091668"/>
            <a:ext cx="2277000" cy="415200"/>
          </a:xfrm>
          <a:prstGeom prst="rect">
            <a:avLst/>
          </a:prstGeom>
          <a:solidFill>
            <a:srgbClr val="0097A7">
              <a:alpha val="145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27"/>
          <p:cNvSpPr/>
          <p:nvPr/>
        </p:nvSpPr>
        <p:spPr>
          <a:xfrm rot="5400000">
            <a:off x="5006913" y="3093416"/>
            <a:ext cx="415200" cy="2413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27"/>
          <p:cNvSpPr txBox="1"/>
          <p:nvPr/>
        </p:nvSpPr>
        <p:spPr>
          <a:xfrm>
            <a:off x="4007863" y="4037668"/>
            <a:ext cx="2413200" cy="50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JetBrains Mono ExtraBold"/>
                <a:ea typeface="JetBrains Mono ExtraBold"/>
                <a:cs typeface="JetBrains Mono ExtraBold"/>
                <a:sym typeface="JetBrains Mono ExtraBold"/>
              </a:rPr>
              <a:t>“Reviewer 3”</a:t>
            </a:r>
            <a:endParaRPr sz="2100">
              <a:solidFill>
                <a:schemeClr val="lt1"/>
              </a:solidFill>
              <a:latin typeface="JetBrains Mono ExtraBold"/>
              <a:ea typeface="JetBrains Mono ExtraBold"/>
              <a:cs typeface="JetBrains Mono ExtraBold"/>
              <a:sym typeface="JetBrains Mono ExtraBold"/>
            </a:endParaRPr>
          </a:p>
        </p:txBody>
      </p:sp>
      <p:sp>
        <p:nvSpPr>
          <p:cNvPr id="313" name="Google Shape;313;p27"/>
          <p:cNvSpPr txBox="1"/>
          <p:nvPr/>
        </p:nvSpPr>
        <p:spPr>
          <a:xfrm>
            <a:off x="6422475" y="4046068"/>
            <a:ext cx="2277000" cy="50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rgbClr val="434343"/>
                </a:solidFill>
                <a:latin typeface="JetBrains Mono"/>
                <a:ea typeface="JetBrains Mono"/>
                <a:cs typeface="JetBrains Mono"/>
                <a:sym typeface="JetBrains Mono"/>
              </a:rPr>
              <a:t>Catie Wharton</a:t>
            </a:r>
            <a:endParaRPr sz="2100">
              <a:solidFill>
                <a:srgbClr val="434343"/>
              </a:solidFill>
              <a:latin typeface="JetBrains Mono"/>
              <a:ea typeface="JetBrains Mono"/>
              <a:cs typeface="JetBrains Mono"/>
              <a:sym typeface="JetBrains Mono"/>
            </a:endParaRPr>
          </a:p>
        </p:txBody>
      </p:sp>
      <p:sp>
        <p:nvSpPr>
          <p:cNvPr id="314" name="Google Shape;314;p27"/>
          <p:cNvSpPr/>
          <p:nvPr/>
        </p:nvSpPr>
        <p:spPr>
          <a:xfrm flipH="1" rot="10800000">
            <a:off x="296088" y="644144"/>
            <a:ext cx="570300" cy="714600"/>
          </a:xfrm>
          <a:prstGeom prst="bentArrow">
            <a:avLst>
              <a:gd fmla="val 25000" name="adj1"/>
              <a:gd fmla="val 25000" name="adj2"/>
              <a:gd fmla="val 25000" name="adj3"/>
              <a:gd fmla="val 43750" name="adj4"/>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27"/>
          <p:cNvSpPr/>
          <p:nvPr/>
        </p:nvSpPr>
        <p:spPr>
          <a:xfrm flipH="1" rot="10800000">
            <a:off x="1065849" y="1419069"/>
            <a:ext cx="570300" cy="714600"/>
          </a:xfrm>
          <a:prstGeom prst="bentArrow">
            <a:avLst>
              <a:gd fmla="val 25000" name="adj1"/>
              <a:gd fmla="val 25000" name="adj2"/>
              <a:gd fmla="val 25000" name="adj3"/>
              <a:gd fmla="val 43750" name="adj4"/>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27"/>
          <p:cNvSpPr/>
          <p:nvPr/>
        </p:nvSpPr>
        <p:spPr>
          <a:xfrm flipH="1" rot="10800000">
            <a:off x="1817961" y="2179590"/>
            <a:ext cx="570300" cy="714600"/>
          </a:xfrm>
          <a:prstGeom prst="bentArrow">
            <a:avLst>
              <a:gd fmla="val 25000" name="adj1"/>
              <a:gd fmla="val 25000" name="adj2"/>
              <a:gd fmla="val 25000" name="adj3"/>
              <a:gd fmla="val 43750" name="adj4"/>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27"/>
          <p:cNvSpPr/>
          <p:nvPr/>
        </p:nvSpPr>
        <p:spPr>
          <a:xfrm flipH="1" rot="10800000">
            <a:off x="2593613" y="2944490"/>
            <a:ext cx="570300" cy="714600"/>
          </a:xfrm>
          <a:prstGeom prst="bentArrow">
            <a:avLst>
              <a:gd fmla="val 25000" name="adj1"/>
              <a:gd fmla="val 25000" name="adj2"/>
              <a:gd fmla="val 25000" name="adj3"/>
              <a:gd fmla="val 43750" name="adj4"/>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7"/>
          <p:cNvSpPr/>
          <p:nvPr/>
        </p:nvSpPr>
        <p:spPr>
          <a:xfrm flipH="1" rot="10800000">
            <a:off x="3328088" y="3719290"/>
            <a:ext cx="570300" cy="714600"/>
          </a:xfrm>
          <a:prstGeom prst="bentArrow">
            <a:avLst>
              <a:gd fmla="val 25000" name="adj1"/>
              <a:gd fmla="val 25000" name="adj2"/>
              <a:gd fmla="val 25000" name="adj3"/>
              <a:gd fmla="val 43750" name="adj4"/>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27"/>
          <p:cNvSpPr/>
          <p:nvPr/>
        </p:nvSpPr>
        <p:spPr>
          <a:xfrm rot="5400000">
            <a:off x="4401525" y="397350"/>
            <a:ext cx="351600" cy="915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27"/>
          <p:cNvSpPr txBox="1"/>
          <p:nvPr/>
        </p:nvSpPr>
        <p:spPr>
          <a:xfrm>
            <a:off x="3878650" y="4759350"/>
            <a:ext cx="526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JetBrains Mono"/>
                <a:ea typeface="JetBrains Mono"/>
                <a:cs typeface="JetBrains Mono"/>
                <a:sym typeface="JetBrains Mono"/>
              </a:rPr>
              <a:t>Olm et al., Science 376, 1220-1223 (2022)</a:t>
            </a:r>
            <a:endParaRPr sz="1600">
              <a:solidFill>
                <a:schemeClr val="lt2"/>
              </a:solidFill>
              <a:latin typeface="JetBrains Mono"/>
              <a:ea typeface="JetBrains Mono"/>
              <a:cs typeface="JetBrains Mono"/>
              <a:sym typeface="JetBrains Mon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